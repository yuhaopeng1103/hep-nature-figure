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6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0" r:id="rId3"/>
    <p:sldId id="261" r:id="rId4"/>
    <p:sldId id="263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8" r:id="rId14"/>
    <p:sldId id="27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0" r:id="rId27"/>
    <p:sldId id="281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96" y="1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6.svg"/><Relationship Id="rId6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vectorizer.ai/" TargetMode="External"/><Relationship Id="rId3" Type="http://schemas.openxmlformats.org/officeDocument/2006/relationships/image" Target="../media/image23.jpg"/><Relationship Id="rId4" Type="http://schemas.openxmlformats.org/officeDocument/2006/relationships/image" Target="../media/image24.jpeg"/><Relationship Id="rId5" Type="http://schemas.openxmlformats.org/officeDocument/2006/relationships/image" Target="../media/image25.jpe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0801C-B206-2D91-8955-9D8FF5147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E099FF1-26F1-7002-1E71-138E9509A42D}"/>
              </a:ext>
            </a:extLst>
          </p:cNvPr>
          <p:cNvSpPr txBox="1"/>
          <p:nvPr/>
        </p:nvSpPr>
        <p:spPr>
          <a:xfrm>
            <a:off x="545644" y="1432157"/>
            <a:ext cx="1120519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Input: reference figure / hand-drawn sketch / text description</a:t>
            </a:r>
          </a:p>
          <a:p>
            <a:r>
              <a:rPr lang="zh-CN" altLang="en-US" dirty="0"/>
              <a:t>   ↓</a:t>
            </a:r>
          </a:p>
          <a:p>
            <a:r>
              <a:rPr lang="en-US" dirty="0"/>
              <a:t>①  Write the IR  (physics layer + elements + composition + </a:t>
            </a:r>
            <a:r>
              <a:rPr lang="en-US" dirty="0" err="1"/>
              <a:t>geometry_constraints</a:t>
            </a:r>
            <a:r>
              <a:rPr lang="en-US" dirty="0"/>
              <a:t>)</a:t>
            </a:r>
          </a:p>
          <a:p>
            <a:r>
              <a:rPr lang="zh-CN" altLang="en-US" dirty="0"/>
              <a:t>   ↓</a:t>
            </a:r>
          </a:p>
          <a:p>
            <a:r>
              <a:rPr lang="en-US" dirty="0"/>
              <a:t>②  Pick a route — this decides how the content gets produced</a:t>
            </a:r>
          </a:p>
          <a:p>
            <a:pPr>
              <a:tabLst>
                <a:tab pos="6400800" algn="l"/>
              </a:tabLst>
            </a:pPr>
            <a:r>
              <a:rPr lang="en-US" dirty="0"/>
              <a:t>   ├  </a:t>
            </a:r>
            <a:r>
              <a:rPr lang="en-US" b="1" dirty="0"/>
              <a:t>A   Model writes the SVG directly(</a:t>
            </a:r>
            <a:r>
              <a:rPr lang="en-US" b="1" dirty="0" err="1"/>
              <a:t>consistenly</a:t>
            </a:r>
            <a:r>
              <a:rPr lang="en-US" b="1" dirty="0"/>
              <a:t> change)</a:t>
            </a:r>
            <a:r>
              <a:rPr lang="en-US" dirty="0"/>
              <a:t>	                  tightest constraints, most reproducible</a:t>
            </a:r>
          </a:p>
          <a:p>
            <a:pPr>
              <a:tabLst>
                <a:tab pos="6400800" algn="l"/>
              </a:tabLst>
            </a:pPr>
            <a:r>
              <a:rPr lang="en-US" dirty="0"/>
              <a:t>   ├  </a:t>
            </a:r>
            <a:r>
              <a:rPr lang="en-US" b="1" dirty="0"/>
              <a:t>B1  Image sketch → check sketch →</a:t>
            </a:r>
            <a:r>
              <a:rPr lang="en-US" altLang="zh-CN" b="1" dirty="0"/>
              <a:t> finished bitmap →</a:t>
            </a:r>
            <a:r>
              <a:rPr lang="en-US" b="1" dirty="0"/>
              <a:t> author SVG</a:t>
            </a:r>
            <a:r>
              <a:rPr lang="en-US" dirty="0"/>
              <a:t>	 middle ground on texture and control</a:t>
            </a:r>
          </a:p>
          <a:p>
            <a:pPr>
              <a:tabLst>
                <a:tab pos="6400800" algn="l"/>
              </a:tabLst>
            </a:pPr>
            <a:r>
              <a:rPr lang="en-US" dirty="0"/>
              <a:t>   └─ </a:t>
            </a:r>
            <a:r>
              <a:rPr lang="en-US" b="1" dirty="0"/>
              <a:t>B2  </a:t>
            </a:r>
            <a:r>
              <a:rPr lang="en-US" altLang="zh-CN" b="1" dirty="0"/>
              <a:t>Image sketch → check sketch → </a:t>
            </a:r>
            <a:r>
              <a:rPr lang="en-US" b="1" dirty="0"/>
              <a:t>finished bitmap → trace</a:t>
            </a:r>
            <a:r>
              <a:rPr lang="en-US" dirty="0"/>
              <a:t>	                  best looking, least reproducible</a:t>
            </a:r>
          </a:p>
          <a:p>
            <a:r>
              <a:rPr lang="zh-CN" altLang="en-US" dirty="0"/>
              <a:t>   ↓</a:t>
            </a:r>
          </a:p>
          <a:p>
            <a:r>
              <a:rPr lang="en-US" dirty="0"/>
              <a:t>③  Scene Graph extraction → deterministic recomposition → structured description → SVG</a:t>
            </a:r>
          </a:p>
          <a:p>
            <a:r>
              <a:rPr lang="zh-CN" altLang="en-US" dirty="0"/>
              <a:t>   ↓</a:t>
            </a:r>
          </a:p>
          <a:p>
            <a:r>
              <a:rPr lang="en-US" dirty="0"/>
              <a:t>④  Three gates + rework ticket → deliver (SVG working draft + PDF delivery copy)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0BAA72-0546-F1DC-FB8E-4E54282E7176}"/>
              </a:ext>
            </a:extLst>
          </p:cNvPr>
          <p:cNvSpPr txBox="1"/>
          <p:nvPr/>
        </p:nvSpPr>
        <p:spPr>
          <a:xfrm>
            <a:off x="315011" y="19950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Skill pipeline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C3DA57C-572F-4541-EC57-D0CFDE051908}"/>
              </a:ext>
            </a:extLst>
          </p:cNvPr>
          <p:cNvGrpSpPr/>
          <p:nvPr/>
        </p:nvGrpSpPr>
        <p:grpSpPr>
          <a:xfrm>
            <a:off x="550362" y="5025292"/>
            <a:ext cx="142529" cy="191262"/>
            <a:chOff x="1387566" y="2828727"/>
            <a:chExt cx="314053" cy="368698"/>
          </a:xfrm>
        </p:grpSpPr>
        <p:sp>
          <p:nvSpPr>
            <p:cNvPr id="8" name="箭头: V 形 14">
              <a:extLst>
                <a:ext uri="{FF2B5EF4-FFF2-40B4-BE49-F238E27FC236}">
                  <a16:creationId xmlns:a16="http://schemas.microsoft.com/office/drawing/2014/main" id="{A51AFCA6-FF0F-3395-0E75-3344112A3A5D}"/>
                </a:ext>
              </a:extLst>
            </p:cNvPr>
            <p:cNvSpPr/>
            <p:nvPr/>
          </p:nvSpPr>
          <p:spPr>
            <a:xfrm>
              <a:off x="1387566" y="2828727"/>
              <a:ext cx="314053" cy="368698"/>
            </a:xfrm>
            <a:custGeom>
              <a:avLst/>
              <a:gdLst>
                <a:gd name="csX0" fmla="*/ 0 w 304800"/>
                <a:gd name="csY0" fmla="*/ 0 h 484632"/>
                <a:gd name="csX1" fmla="*/ 130628 w 304800"/>
                <a:gd name="csY1" fmla="*/ 0 h 484632"/>
                <a:gd name="csX2" fmla="*/ 304800 w 304800"/>
                <a:gd name="csY2" fmla="*/ 242316 h 484632"/>
                <a:gd name="csX3" fmla="*/ 130628 w 304800"/>
                <a:gd name="csY3" fmla="*/ 484632 h 484632"/>
                <a:gd name="csX4" fmla="*/ 0 w 304800"/>
                <a:gd name="csY4" fmla="*/ 484632 h 484632"/>
                <a:gd name="csX5" fmla="*/ 174172 w 304800"/>
                <a:gd name="csY5" fmla="*/ 242316 h 484632"/>
                <a:gd name="csX6" fmla="*/ 0 w 304800"/>
                <a:gd name="csY6" fmla="*/ 0 h 484632"/>
                <a:gd name="csX0" fmla="*/ 0 w 304800"/>
                <a:gd name="csY0" fmla="*/ 0 h 484632"/>
                <a:gd name="csX1" fmla="*/ 17417 w 304800"/>
                <a:gd name="csY1" fmla="*/ 0 h 484632"/>
                <a:gd name="csX2" fmla="*/ 304800 w 304800"/>
                <a:gd name="csY2" fmla="*/ 242316 h 484632"/>
                <a:gd name="csX3" fmla="*/ 130628 w 304800"/>
                <a:gd name="csY3" fmla="*/ 484632 h 484632"/>
                <a:gd name="csX4" fmla="*/ 0 w 304800"/>
                <a:gd name="csY4" fmla="*/ 484632 h 484632"/>
                <a:gd name="csX5" fmla="*/ 174172 w 304800"/>
                <a:gd name="csY5" fmla="*/ 242316 h 484632"/>
                <a:gd name="csX6" fmla="*/ 0 w 304800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82881 w 313509"/>
                <a:gd name="csY5" fmla="*/ 242316 h 484632"/>
                <a:gd name="csX6" fmla="*/ 8709 w 313509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13212 w 313509"/>
                <a:gd name="csY5" fmla="*/ 242316 h 484632"/>
                <a:gd name="csX6" fmla="*/ 8709 w 313509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91590 w 313509"/>
                <a:gd name="csY5" fmla="*/ 242316 h 484632"/>
                <a:gd name="csX6" fmla="*/ 8709 w 313509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48047 w 313509"/>
                <a:gd name="csY5" fmla="*/ 242316 h 484632"/>
                <a:gd name="csX6" fmla="*/ 8709 w 313509"/>
                <a:gd name="csY6" fmla="*/ 0 h 484632"/>
                <a:gd name="csX0" fmla="*/ 0 w 330926"/>
                <a:gd name="csY0" fmla="*/ 0 h 484632"/>
                <a:gd name="csX1" fmla="*/ 43543 w 330926"/>
                <a:gd name="csY1" fmla="*/ 0 h 484632"/>
                <a:gd name="csX2" fmla="*/ 330926 w 330926"/>
                <a:gd name="csY2" fmla="*/ 242316 h 484632"/>
                <a:gd name="csX3" fmla="*/ 17417 w 330926"/>
                <a:gd name="csY3" fmla="*/ 484632 h 484632"/>
                <a:gd name="csX4" fmla="*/ 26126 w 330926"/>
                <a:gd name="csY4" fmla="*/ 484632 h 484632"/>
                <a:gd name="csX5" fmla="*/ 165464 w 330926"/>
                <a:gd name="csY5" fmla="*/ 242316 h 484632"/>
                <a:gd name="csX6" fmla="*/ 0 w 330926"/>
                <a:gd name="csY6" fmla="*/ 0 h 484632"/>
                <a:gd name="csX0" fmla="*/ 0 w 330926"/>
                <a:gd name="csY0" fmla="*/ 5715 h 490347"/>
                <a:gd name="csX1" fmla="*/ 1633 w 330926"/>
                <a:gd name="csY1" fmla="*/ 0 h 490347"/>
                <a:gd name="csX2" fmla="*/ 330926 w 330926"/>
                <a:gd name="csY2" fmla="*/ 248031 h 490347"/>
                <a:gd name="csX3" fmla="*/ 17417 w 330926"/>
                <a:gd name="csY3" fmla="*/ 490347 h 490347"/>
                <a:gd name="csX4" fmla="*/ 26126 w 330926"/>
                <a:gd name="csY4" fmla="*/ 490347 h 490347"/>
                <a:gd name="csX5" fmla="*/ 165464 w 330926"/>
                <a:gd name="csY5" fmla="*/ 248031 h 490347"/>
                <a:gd name="csX6" fmla="*/ 0 w 330926"/>
                <a:gd name="csY6" fmla="*/ 5715 h 490347"/>
                <a:gd name="csX0" fmla="*/ 0 w 330926"/>
                <a:gd name="csY0" fmla="*/ 5715 h 490347"/>
                <a:gd name="csX1" fmla="*/ 1633 w 330926"/>
                <a:gd name="csY1" fmla="*/ 0 h 490347"/>
                <a:gd name="csX2" fmla="*/ 330926 w 330926"/>
                <a:gd name="csY2" fmla="*/ 248031 h 490347"/>
                <a:gd name="csX3" fmla="*/ 17417 w 330926"/>
                <a:gd name="csY3" fmla="*/ 490347 h 490347"/>
                <a:gd name="csX4" fmla="*/ 20411 w 330926"/>
                <a:gd name="csY4" fmla="*/ 486537 h 490347"/>
                <a:gd name="csX5" fmla="*/ 165464 w 330926"/>
                <a:gd name="csY5" fmla="*/ 248031 h 490347"/>
                <a:gd name="csX6" fmla="*/ 0 w 330926"/>
                <a:gd name="csY6" fmla="*/ 5715 h 490347"/>
                <a:gd name="csX0" fmla="*/ 5987 w 329293"/>
                <a:gd name="csY0" fmla="*/ 5715 h 490347"/>
                <a:gd name="csX1" fmla="*/ 0 w 329293"/>
                <a:gd name="csY1" fmla="*/ 0 h 490347"/>
                <a:gd name="csX2" fmla="*/ 329293 w 329293"/>
                <a:gd name="csY2" fmla="*/ 248031 h 490347"/>
                <a:gd name="csX3" fmla="*/ 15784 w 329293"/>
                <a:gd name="csY3" fmla="*/ 490347 h 490347"/>
                <a:gd name="csX4" fmla="*/ 18778 w 329293"/>
                <a:gd name="csY4" fmla="*/ 486537 h 490347"/>
                <a:gd name="csX5" fmla="*/ 163831 w 329293"/>
                <a:gd name="csY5" fmla="*/ 248031 h 490347"/>
                <a:gd name="csX6" fmla="*/ 5987 w 329293"/>
                <a:gd name="csY6" fmla="*/ 5715 h 490347"/>
                <a:gd name="csX0" fmla="*/ 19322 w 329293"/>
                <a:gd name="csY0" fmla="*/ 12978 h 490347"/>
                <a:gd name="csX1" fmla="*/ 0 w 329293"/>
                <a:gd name="csY1" fmla="*/ 0 h 490347"/>
                <a:gd name="csX2" fmla="*/ 329293 w 329293"/>
                <a:gd name="csY2" fmla="*/ 248031 h 490347"/>
                <a:gd name="csX3" fmla="*/ 15784 w 329293"/>
                <a:gd name="csY3" fmla="*/ 490347 h 490347"/>
                <a:gd name="csX4" fmla="*/ 18778 w 329293"/>
                <a:gd name="csY4" fmla="*/ 486537 h 490347"/>
                <a:gd name="csX5" fmla="*/ 163831 w 329293"/>
                <a:gd name="csY5" fmla="*/ 248031 h 490347"/>
                <a:gd name="csX6" fmla="*/ 19322 w 329293"/>
                <a:gd name="csY6" fmla="*/ 12978 h 490347"/>
                <a:gd name="csX0" fmla="*/ 4082 w 314053"/>
                <a:gd name="csY0" fmla="*/ 0 h 477369"/>
                <a:gd name="csX1" fmla="*/ 0 w 314053"/>
                <a:gd name="csY1" fmla="*/ 3969 h 477369"/>
                <a:gd name="csX2" fmla="*/ 314053 w 314053"/>
                <a:gd name="csY2" fmla="*/ 235053 h 477369"/>
                <a:gd name="csX3" fmla="*/ 544 w 314053"/>
                <a:gd name="csY3" fmla="*/ 477369 h 477369"/>
                <a:gd name="csX4" fmla="*/ 3538 w 314053"/>
                <a:gd name="csY4" fmla="*/ 473559 h 477369"/>
                <a:gd name="csX5" fmla="*/ 148591 w 314053"/>
                <a:gd name="csY5" fmla="*/ 235053 h 477369"/>
                <a:gd name="csX6" fmla="*/ 4082 w 314053"/>
                <a:gd name="csY6" fmla="*/ 0 h 477369"/>
                <a:gd name="csX0" fmla="*/ 0 w 317591"/>
                <a:gd name="csY0" fmla="*/ 873 h 473400"/>
                <a:gd name="csX1" fmla="*/ 3538 w 317591"/>
                <a:gd name="csY1" fmla="*/ 0 h 473400"/>
                <a:gd name="csX2" fmla="*/ 317591 w 317591"/>
                <a:gd name="csY2" fmla="*/ 231084 h 473400"/>
                <a:gd name="csX3" fmla="*/ 4082 w 317591"/>
                <a:gd name="csY3" fmla="*/ 473400 h 473400"/>
                <a:gd name="csX4" fmla="*/ 7076 w 317591"/>
                <a:gd name="csY4" fmla="*/ 469590 h 473400"/>
                <a:gd name="csX5" fmla="*/ 152129 w 317591"/>
                <a:gd name="csY5" fmla="*/ 231084 h 473400"/>
                <a:gd name="csX6" fmla="*/ 0 w 317591"/>
                <a:gd name="csY6" fmla="*/ 873 h 473400"/>
                <a:gd name="csX0" fmla="*/ 2177 w 314053"/>
                <a:gd name="csY0" fmla="*/ 0 h 477369"/>
                <a:gd name="csX1" fmla="*/ 0 w 314053"/>
                <a:gd name="csY1" fmla="*/ 3969 h 477369"/>
                <a:gd name="csX2" fmla="*/ 314053 w 314053"/>
                <a:gd name="csY2" fmla="*/ 235053 h 477369"/>
                <a:gd name="csX3" fmla="*/ 544 w 314053"/>
                <a:gd name="csY3" fmla="*/ 477369 h 477369"/>
                <a:gd name="csX4" fmla="*/ 3538 w 314053"/>
                <a:gd name="csY4" fmla="*/ 473559 h 477369"/>
                <a:gd name="csX5" fmla="*/ 148591 w 314053"/>
                <a:gd name="csY5" fmla="*/ 235053 h 477369"/>
                <a:gd name="csX6" fmla="*/ 2177 w 314053"/>
                <a:gd name="csY6" fmla="*/ 0 h 477369"/>
                <a:gd name="csX0" fmla="*/ 272 w 314053"/>
                <a:gd name="csY0" fmla="*/ 3294 h 473400"/>
                <a:gd name="csX1" fmla="*/ 0 w 314053"/>
                <a:gd name="csY1" fmla="*/ 0 h 473400"/>
                <a:gd name="csX2" fmla="*/ 314053 w 314053"/>
                <a:gd name="csY2" fmla="*/ 231084 h 473400"/>
                <a:gd name="csX3" fmla="*/ 544 w 314053"/>
                <a:gd name="csY3" fmla="*/ 473400 h 473400"/>
                <a:gd name="csX4" fmla="*/ 3538 w 314053"/>
                <a:gd name="csY4" fmla="*/ 469590 h 473400"/>
                <a:gd name="csX5" fmla="*/ 148591 w 314053"/>
                <a:gd name="csY5" fmla="*/ 231084 h 473400"/>
                <a:gd name="csX6" fmla="*/ 272 w 314053"/>
                <a:gd name="csY6" fmla="*/ 3294 h 473400"/>
                <a:gd name="csX0" fmla="*/ 15512 w 314053"/>
                <a:gd name="csY0" fmla="*/ 71081 h 473400"/>
                <a:gd name="csX1" fmla="*/ 0 w 314053"/>
                <a:gd name="csY1" fmla="*/ 0 h 473400"/>
                <a:gd name="csX2" fmla="*/ 314053 w 314053"/>
                <a:gd name="csY2" fmla="*/ 231084 h 473400"/>
                <a:gd name="csX3" fmla="*/ 544 w 314053"/>
                <a:gd name="csY3" fmla="*/ 473400 h 473400"/>
                <a:gd name="csX4" fmla="*/ 3538 w 314053"/>
                <a:gd name="csY4" fmla="*/ 469590 h 473400"/>
                <a:gd name="csX5" fmla="*/ 148591 w 314053"/>
                <a:gd name="csY5" fmla="*/ 231084 h 473400"/>
                <a:gd name="csX6" fmla="*/ 15512 w 314053"/>
                <a:gd name="csY6" fmla="*/ 71081 h 473400"/>
                <a:gd name="csX0" fmla="*/ 15512 w 314053"/>
                <a:gd name="csY0" fmla="*/ 66239 h 468558"/>
                <a:gd name="csX1" fmla="*/ 0 w 314053"/>
                <a:gd name="csY1" fmla="*/ 0 h 468558"/>
                <a:gd name="csX2" fmla="*/ 314053 w 314053"/>
                <a:gd name="csY2" fmla="*/ 226242 h 468558"/>
                <a:gd name="csX3" fmla="*/ 544 w 314053"/>
                <a:gd name="csY3" fmla="*/ 468558 h 468558"/>
                <a:gd name="csX4" fmla="*/ 3538 w 314053"/>
                <a:gd name="csY4" fmla="*/ 464748 h 468558"/>
                <a:gd name="csX5" fmla="*/ 148591 w 314053"/>
                <a:gd name="csY5" fmla="*/ 226242 h 468558"/>
                <a:gd name="csX6" fmla="*/ 15512 w 314053"/>
                <a:gd name="csY6" fmla="*/ 66239 h 468558"/>
                <a:gd name="csX0" fmla="*/ 2177 w 314053"/>
                <a:gd name="csY0" fmla="*/ 10557 h 468558"/>
                <a:gd name="csX1" fmla="*/ 0 w 314053"/>
                <a:gd name="csY1" fmla="*/ 0 h 468558"/>
                <a:gd name="csX2" fmla="*/ 314053 w 314053"/>
                <a:gd name="csY2" fmla="*/ 226242 h 468558"/>
                <a:gd name="csX3" fmla="*/ 544 w 314053"/>
                <a:gd name="csY3" fmla="*/ 468558 h 468558"/>
                <a:gd name="csX4" fmla="*/ 3538 w 314053"/>
                <a:gd name="csY4" fmla="*/ 464748 h 468558"/>
                <a:gd name="csX5" fmla="*/ 148591 w 314053"/>
                <a:gd name="csY5" fmla="*/ 226242 h 468558"/>
                <a:gd name="csX6" fmla="*/ 2177 w 314053"/>
                <a:gd name="csY6" fmla="*/ 10557 h 468558"/>
                <a:gd name="csX0" fmla="*/ 272 w 314053"/>
                <a:gd name="csY0" fmla="*/ 873 h 468558"/>
                <a:gd name="csX1" fmla="*/ 0 w 314053"/>
                <a:gd name="csY1" fmla="*/ 0 h 468558"/>
                <a:gd name="csX2" fmla="*/ 314053 w 314053"/>
                <a:gd name="csY2" fmla="*/ 226242 h 468558"/>
                <a:gd name="csX3" fmla="*/ 544 w 314053"/>
                <a:gd name="csY3" fmla="*/ 468558 h 468558"/>
                <a:gd name="csX4" fmla="*/ 3538 w 314053"/>
                <a:gd name="csY4" fmla="*/ 464748 h 468558"/>
                <a:gd name="csX5" fmla="*/ 148591 w 314053"/>
                <a:gd name="csY5" fmla="*/ 226242 h 468558"/>
                <a:gd name="csX6" fmla="*/ 272 w 314053"/>
                <a:gd name="csY6" fmla="*/ 873 h 468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53" h="468558">
                  <a:moveTo>
                    <a:pt x="272" y="873"/>
                  </a:moveTo>
                  <a:cubicBezTo>
                    <a:pt x="181" y="-225"/>
                    <a:pt x="91" y="1098"/>
                    <a:pt x="0" y="0"/>
                  </a:cubicBezTo>
                  <a:lnTo>
                    <a:pt x="314053" y="226242"/>
                  </a:lnTo>
                  <a:lnTo>
                    <a:pt x="544" y="468558"/>
                  </a:lnTo>
                  <a:lnTo>
                    <a:pt x="3538" y="464748"/>
                  </a:lnTo>
                  <a:lnTo>
                    <a:pt x="148591" y="226242"/>
                  </a:lnTo>
                  <a:lnTo>
                    <a:pt x="272" y="873"/>
                  </a:lnTo>
                  <a:close/>
                </a:path>
              </a:pathLst>
            </a:cu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C8B0500C-81E2-7660-FB95-A10394C7D3D3}"/>
                </a:ext>
              </a:extLst>
            </p:cNvPr>
            <p:cNvSpPr/>
            <p:nvPr/>
          </p:nvSpPr>
          <p:spPr>
            <a:xfrm>
              <a:off x="1388110" y="3013075"/>
              <a:ext cx="303112" cy="184350"/>
            </a:xfrm>
            <a:custGeom>
              <a:avLst/>
              <a:gdLst>
                <a:gd name="csX0" fmla="*/ 143160 w 303112"/>
                <a:gd name="csY0" fmla="*/ 0 h 184350"/>
                <a:gd name="csX1" fmla="*/ 303112 w 303112"/>
                <a:gd name="csY1" fmla="*/ 0 h 184350"/>
                <a:gd name="csX2" fmla="*/ 0 w 303112"/>
                <a:gd name="csY2" fmla="*/ 184350 h 184350"/>
                <a:gd name="csX3" fmla="*/ 2994 w 303112"/>
                <a:gd name="csY3" fmla="*/ 181352 h 184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3112" h="184350">
                  <a:moveTo>
                    <a:pt x="143160" y="0"/>
                  </a:moveTo>
                  <a:lnTo>
                    <a:pt x="303112" y="0"/>
                  </a:lnTo>
                  <a:lnTo>
                    <a:pt x="0" y="184350"/>
                  </a:lnTo>
                  <a:lnTo>
                    <a:pt x="2994" y="181352"/>
                  </a:lnTo>
                  <a:close/>
                </a:path>
              </a:pathLst>
            </a:cu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253873D4-5CFF-83C1-7DF7-3CA80B67A7EF}"/>
              </a:ext>
            </a:extLst>
          </p:cNvPr>
          <p:cNvSpPr txBox="1"/>
          <p:nvPr/>
        </p:nvSpPr>
        <p:spPr>
          <a:xfrm>
            <a:off x="770363" y="4955415"/>
            <a:ext cx="1030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Bitmap: a diffusion model draws it and the skill edits it — same prompt, different image.</a:t>
            </a:r>
            <a:endParaRPr lang="en-US" altLang="zh-CN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9CDC5D1-9667-B644-D04D-673B77D27AE5}"/>
              </a:ext>
            </a:extLst>
          </p:cNvPr>
          <p:cNvGrpSpPr/>
          <p:nvPr/>
        </p:nvGrpSpPr>
        <p:grpSpPr>
          <a:xfrm>
            <a:off x="545644" y="5595184"/>
            <a:ext cx="142529" cy="191262"/>
            <a:chOff x="1387566" y="2828727"/>
            <a:chExt cx="314053" cy="368698"/>
          </a:xfrm>
        </p:grpSpPr>
        <p:sp>
          <p:nvSpPr>
            <p:cNvPr id="13" name="箭头: V 形 14">
              <a:extLst>
                <a:ext uri="{FF2B5EF4-FFF2-40B4-BE49-F238E27FC236}">
                  <a16:creationId xmlns:a16="http://schemas.microsoft.com/office/drawing/2014/main" id="{3667CE1E-590D-9C87-F218-82EA896A9479}"/>
                </a:ext>
              </a:extLst>
            </p:cNvPr>
            <p:cNvSpPr/>
            <p:nvPr/>
          </p:nvSpPr>
          <p:spPr>
            <a:xfrm>
              <a:off x="1387566" y="2828727"/>
              <a:ext cx="314053" cy="368698"/>
            </a:xfrm>
            <a:custGeom>
              <a:avLst/>
              <a:gdLst>
                <a:gd name="csX0" fmla="*/ 0 w 304800"/>
                <a:gd name="csY0" fmla="*/ 0 h 484632"/>
                <a:gd name="csX1" fmla="*/ 130628 w 304800"/>
                <a:gd name="csY1" fmla="*/ 0 h 484632"/>
                <a:gd name="csX2" fmla="*/ 304800 w 304800"/>
                <a:gd name="csY2" fmla="*/ 242316 h 484632"/>
                <a:gd name="csX3" fmla="*/ 130628 w 304800"/>
                <a:gd name="csY3" fmla="*/ 484632 h 484632"/>
                <a:gd name="csX4" fmla="*/ 0 w 304800"/>
                <a:gd name="csY4" fmla="*/ 484632 h 484632"/>
                <a:gd name="csX5" fmla="*/ 174172 w 304800"/>
                <a:gd name="csY5" fmla="*/ 242316 h 484632"/>
                <a:gd name="csX6" fmla="*/ 0 w 304800"/>
                <a:gd name="csY6" fmla="*/ 0 h 484632"/>
                <a:gd name="csX0" fmla="*/ 0 w 304800"/>
                <a:gd name="csY0" fmla="*/ 0 h 484632"/>
                <a:gd name="csX1" fmla="*/ 17417 w 304800"/>
                <a:gd name="csY1" fmla="*/ 0 h 484632"/>
                <a:gd name="csX2" fmla="*/ 304800 w 304800"/>
                <a:gd name="csY2" fmla="*/ 242316 h 484632"/>
                <a:gd name="csX3" fmla="*/ 130628 w 304800"/>
                <a:gd name="csY3" fmla="*/ 484632 h 484632"/>
                <a:gd name="csX4" fmla="*/ 0 w 304800"/>
                <a:gd name="csY4" fmla="*/ 484632 h 484632"/>
                <a:gd name="csX5" fmla="*/ 174172 w 304800"/>
                <a:gd name="csY5" fmla="*/ 242316 h 484632"/>
                <a:gd name="csX6" fmla="*/ 0 w 304800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82881 w 313509"/>
                <a:gd name="csY5" fmla="*/ 242316 h 484632"/>
                <a:gd name="csX6" fmla="*/ 8709 w 313509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13212 w 313509"/>
                <a:gd name="csY5" fmla="*/ 242316 h 484632"/>
                <a:gd name="csX6" fmla="*/ 8709 w 313509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91590 w 313509"/>
                <a:gd name="csY5" fmla="*/ 242316 h 484632"/>
                <a:gd name="csX6" fmla="*/ 8709 w 313509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48047 w 313509"/>
                <a:gd name="csY5" fmla="*/ 242316 h 484632"/>
                <a:gd name="csX6" fmla="*/ 8709 w 313509"/>
                <a:gd name="csY6" fmla="*/ 0 h 484632"/>
                <a:gd name="csX0" fmla="*/ 0 w 330926"/>
                <a:gd name="csY0" fmla="*/ 0 h 484632"/>
                <a:gd name="csX1" fmla="*/ 43543 w 330926"/>
                <a:gd name="csY1" fmla="*/ 0 h 484632"/>
                <a:gd name="csX2" fmla="*/ 330926 w 330926"/>
                <a:gd name="csY2" fmla="*/ 242316 h 484632"/>
                <a:gd name="csX3" fmla="*/ 17417 w 330926"/>
                <a:gd name="csY3" fmla="*/ 484632 h 484632"/>
                <a:gd name="csX4" fmla="*/ 26126 w 330926"/>
                <a:gd name="csY4" fmla="*/ 484632 h 484632"/>
                <a:gd name="csX5" fmla="*/ 165464 w 330926"/>
                <a:gd name="csY5" fmla="*/ 242316 h 484632"/>
                <a:gd name="csX6" fmla="*/ 0 w 330926"/>
                <a:gd name="csY6" fmla="*/ 0 h 484632"/>
                <a:gd name="csX0" fmla="*/ 0 w 330926"/>
                <a:gd name="csY0" fmla="*/ 5715 h 490347"/>
                <a:gd name="csX1" fmla="*/ 1633 w 330926"/>
                <a:gd name="csY1" fmla="*/ 0 h 490347"/>
                <a:gd name="csX2" fmla="*/ 330926 w 330926"/>
                <a:gd name="csY2" fmla="*/ 248031 h 490347"/>
                <a:gd name="csX3" fmla="*/ 17417 w 330926"/>
                <a:gd name="csY3" fmla="*/ 490347 h 490347"/>
                <a:gd name="csX4" fmla="*/ 26126 w 330926"/>
                <a:gd name="csY4" fmla="*/ 490347 h 490347"/>
                <a:gd name="csX5" fmla="*/ 165464 w 330926"/>
                <a:gd name="csY5" fmla="*/ 248031 h 490347"/>
                <a:gd name="csX6" fmla="*/ 0 w 330926"/>
                <a:gd name="csY6" fmla="*/ 5715 h 490347"/>
                <a:gd name="csX0" fmla="*/ 0 w 330926"/>
                <a:gd name="csY0" fmla="*/ 5715 h 490347"/>
                <a:gd name="csX1" fmla="*/ 1633 w 330926"/>
                <a:gd name="csY1" fmla="*/ 0 h 490347"/>
                <a:gd name="csX2" fmla="*/ 330926 w 330926"/>
                <a:gd name="csY2" fmla="*/ 248031 h 490347"/>
                <a:gd name="csX3" fmla="*/ 17417 w 330926"/>
                <a:gd name="csY3" fmla="*/ 490347 h 490347"/>
                <a:gd name="csX4" fmla="*/ 20411 w 330926"/>
                <a:gd name="csY4" fmla="*/ 486537 h 490347"/>
                <a:gd name="csX5" fmla="*/ 165464 w 330926"/>
                <a:gd name="csY5" fmla="*/ 248031 h 490347"/>
                <a:gd name="csX6" fmla="*/ 0 w 330926"/>
                <a:gd name="csY6" fmla="*/ 5715 h 490347"/>
                <a:gd name="csX0" fmla="*/ 5987 w 329293"/>
                <a:gd name="csY0" fmla="*/ 5715 h 490347"/>
                <a:gd name="csX1" fmla="*/ 0 w 329293"/>
                <a:gd name="csY1" fmla="*/ 0 h 490347"/>
                <a:gd name="csX2" fmla="*/ 329293 w 329293"/>
                <a:gd name="csY2" fmla="*/ 248031 h 490347"/>
                <a:gd name="csX3" fmla="*/ 15784 w 329293"/>
                <a:gd name="csY3" fmla="*/ 490347 h 490347"/>
                <a:gd name="csX4" fmla="*/ 18778 w 329293"/>
                <a:gd name="csY4" fmla="*/ 486537 h 490347"/>
                <a:gd name="csX5" fmla="*/ 163831 w 329293"/>
                <a:gd name="csY5" fmla="*/ 248031 h 490347"/>
                <a:gd name="csX6" fmla="*/ 5987 w 329293"/>
                <a:gd name="csY6" fmla="*/ 5715 h 490347"/>
                <a:gd name="csX0" fmla="*/ 19322 w 329293"/>
                <a:gd name="csY0" fmla="*/ 12978 h 490347"/>
                <a:gd name="csX1" fmla="*/ 0 w 329293"/>
                <a:gd name="csY1" fmla="*/ 0 h 490347"/>
                <a:gd name="csX2" fmla="*/ 329293 w 329293"/>
                <a:gd name="csY2" fmla="*/ 248031 h 490347"/>
                <a:gd name="csX3" fmla="*/ 15784 w 329293"/>
                <a:gd name="csY3" fmla="*/ 490347 h 490347"/>
                <a:gd name="csX4" fmla="*/ 18778 w 329293"/>
                <a:gd name="csY4" fmla="*/ 486537 h 490347"/>
                <a:gd name="csX5" fmla="*/ 163831 w 329293"/>
                <a:gd name="csY5" fmla="*/ 248031 h 490347"/>
                <a:gd name="csX6" fmla="*/ 19322 w 329293"/>
                <a:gd name="csY6" fmla="*/ 12978 h 490347"/>
                <a:gd name="csX0" fmla="*/ 4082 w 314053"/>
                <a:gd name="csY0" fmla="*/ 0 h 477369"/>
                <a:gd name="csX1" fmla="*/ 0 w 314053"/>
                <a:gd name="csY1" fmla="*/ 3969 h 477369"/>
                <a:gd name="csX2" fmla="*/ 314053 w 314053"/>
                <a:gd name="csY2" fmla="*/ 235053 h 477369"/>
                <a:gd name="csX3" fmla="*/ 544 w 314053"/>
                <a:gd name="csY3" fmla="*/ 477369 h 477369"/>
                <a:gd name="csX4" fmla="*/ 3538 w 314053"/>
                <a:gd name="csY4" fmla="*/ 473559 h 477369"/>
                <a:gd name="csX5" fmla="*/ 148591 w 314053"/>
                <a:gd name="csY5" fmla="*/ 235053 h 477369"/>
                <a:gd name="csX6" fmla="*/ 4082 w 314053"/>
                <a:gd name="csY6" fmla="*/ 0 h 477369"/>
                <a:gd name="csX0" fmla="*/ 0 w 317591"/>
                <a:gd name="csY0" fmla="*/ 873 h 473400"/>
                <a:gd name="csX1" fmla="*/ 3538 w 317591"/>
                <a:gd name="csY1" fmla="*/ 0 h 473400"/>
                <a:gd name="csX2" fmla="*/ 317591 w 317591"/>
                <a:gd name="csY2" fmla="*/ 231084 h 473400"/>
                <a:gd name="csX3" fmla="*/ 4082 w 317591"/>
                <a:gd name="csY3" fmla="*/ 473400 h 473400"/>
                <a:gd name="csX4" fmla="*/ 7076 w 317591"/>
                <a:gd name="csY4" fmla="*/ 469590 h 473400"/>
                <a:gd name="csX5" fmla="*/ 152129 w 317591"/>
                <a:gd name="csY5" fmla="*/ 231084 h 473400"/>
                <a:gd name="csX6" fmla="*/ 0 w 317591"/>
                <a:gd name="csY6" fmla="*/ 873 h 473400"/>
                <a:gd name="csX0" fmla="*/ 2177 w 314053"/>
                <a:gd name="csY0" fmla="*/ 0 h 477369"/>
                <a:gd name="csX1" fmla="*/ 0 w 314053"/>
                <a:gd name="csY1" fmla="*/ 3969 h 477369"/>
                <a:gd name="csX2" fmla="*/ 314053 w 314053"/>
                <a:gd name="csY2" fmla="*/ 235053 h 477369"/>
                <a:gd name="csX3" fmla="*/ 544 w 314053"/>
                <a:gd name="csY3" fmla="*/ 477369 h 477369"/>
                <a:gd name="csX4" fmla="*/ 3538 w 314053"/>
                <a:gd name="csY4" fmla="*/ 473559 h 477369"/>
                <a:gd name="csX5" fmla="*/ 148591 w 314053"/>
                <a:gd name="csY5" fmla="*/ 235053 h 477369"/>
                <a:gd name="csX6" fmla="*/ 2177 w 314053"/>
                <a:gd name="csY6" fmla="*/ 0 h 477369"/>
                <a:gd name="csX0" fmla="*/ 272 w 314053"/>
                <a:gd name="csY0" fmla="*/ 3294 h 473400"/>
                <a:gd name="csX1" fmla="*/ 0 w 314053"/>
                <a:gd name="csY1" fmla="*/ 0 h 473400"/>
                <a:gd name="csX2" fmla="*/ 314053 w 314053"/>
                <a:gd name="csY2" fmla="*/ 231084 h 473400"/>
                <a:gd name="csX3" fmla="*/ 544 w 314053"/>
                <a:gd name="csY3" fmla="*/ 473400 h 473400"/>
                <a:gd name="csX4" fmla="*/ 3538 w 314053"/>
                <a:gd name="csY4" fmla="*/ 469590 h 473400"/>
                <a:gd name="csX5" fmla="*/ 148591 w 314053"/>
                <a:gd name="csY5" fmla="*/ 231084 h 473400"/>
                <a:gd name="csX6" fmla="*/ 272 w 314053"/>
                <a:gd name="csY6" fmla="*/ 3294 h 473400"/>
                <a:gd name="csX0" fmla="*/ 15512 w 314053"/>
                <a:gd name="csY0" fmla="*/ 71081 h 473400"/>
                <a:gd name="csX1" fmla="*/ 0 w 314053"/>
                <a:gd name="csY1" fmla="*/ 0 h 473400"/>
                <a:gd name="csX2" fmla="*/ 314053 w 314053"/>
                <a:gd name="csY2" fmla="*/ 231084 h 473400"/>
                <a:gd name="csX3" fmla="*/ 544 w 314053"/>
                <a:gd name="csY3" fmla="*/ 473400 h 473400"/>
                <a:gd name="csX4" fmla="*/ 3538 w 314053"/>
                <a:gd name="csY4" fmla="*/ 469590 h 473400"/>
                <a:gd name="csX5" fmla="*/ 148591 w 314053"/>
                <a:gd name="csY5" fmla="*/ 231084 h 473400"/>
                <a:gd name="csX6" fmla="*/ 15512 w 314053"/>
                <a:gd name="csY6" fmla="*/ 71081 h 473400"/>
                <a:gd name="csX0" fmla="*/ 15512 w 314053"/>
                <a:gd name="csY0" fmla="*/ 66239 h 468558"/>
                <a:gd name="csX1" fmla="*/ 0 w 314053"/>
                <a:gd name="csY1" fmla="*/ 0 h 468558"/>
                <a:gd name="csX2" fmla="*/ 314053 w 314053"/>
                <a:gd name="csY2" fmla="*/ 226242 h 468558"/>
                <a:gd name="csX3" fmla="*/ 544 w 314053"/>
                <a:gd name="csY3" fmla="*/ 468558 h 468558"/>
                <a:gd name="csX4" fmla="*/ 3538 w 314053"/>
                <a:gd name="csY4" fmla="*/ 464748 h 468558"/>
                <a:gd name="csX5" fmla="*/ 148591 w 314053"/>
                <a:gd name="csY5" fmla="*/ 226242 h 468558"/>
                <a:gd name="csX6" fmla="*/ 15512 w 314053"/>
                <a:gd name="csY6" fmla="*/ 66239 h 468558"/>
                <a:gd name="csX0" fmla="*/ 2177 w 314053"/>
                <a:gd name="csY0" fmla="*/ 10557 h 468558"/>
                <a:gd name="csX1" fmla="*/ 0 w 314053"/>
                <a:gd name="csY1" fmla="*/ 0 h 468558"/>
                <a:gd name="csX2" fmla="*/ 314053 w 314053"/>
                <a:gd name="csY2" fmla="*/ 226242 h 468558"/>
                <a:gd name="csX3" fmla="*/ 544 w 314053"/>
                <a:gd name="csY3" fmla="*/ 468558 h 468558"/>
                <a:gd name="csX4" fmla="*/ 3538 w 314053"/>
                <a:gd name="csY4" fmla="*/ 464748 h 468558"/>
                <a:gd name="csX5" fmla="*/ 148591 w 314053"/>
                <a:gd name="csY5" fmla="*/ 226242 h 468558"/>
                <a:gd name="csX6" fmla="*/ 2177 w 314053"/>
                <a:gd name="csY6" fmla="*/ 10557 h 468558"/>
                <a:gd name="csX0" fmla="*/ 272 w 314053"/>
                <a:gd name="csY0" fmla="*/ 873 h 468558"/>
                <a:gd name="csX1" fmla="*/ 0 w 314053"/>
                <a:gd name="csY1" fmla="*/ 0 h 468558"/>
                <a:gd name="csX2" fmla="*/ 314053 w 314053"/>
                <a:gd name="csY2" fmla="*/ 226242 h 468558"/>
                <a:gd name="csX3" fmla="*/ 544 w 314053"/>
                <a:gd name="csY3" fmla="*/ 468558 h 468558"/>
                <a:gd name="csX4" fmla="*/ 3538 w 314053"/>
                <a:gd name="csY4" fmla="*/ 464748 h 468558"/>
                <a:gd name="csX5" fmla="*/ 148591 w 314053"/>
                <a:gd name="csY5" fmla="*/ 226242 h 468558"/>
                <a:gd name="csX6" fmla="*/ 272 w 314053"/>
                <a:gd name="csY6" fmla="*/ 873 h 468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53" h="468558">
                  <a:moveTo>
                    <a:pt x="272" y="873"/>
                  </a:moveTo>
                  <a:cubicBezTo>
                    <a:pt x="181" y="-225"/>
                    <a:pt x="91" y="1098"/>
                    <a:pt x="0" y="0"/>
                  </a:cubicBezTo>
                  <a:lnTo>
                    <a:pt x="314053" y="226242"/>
                  </a:lnTo>
                  <a:lnTo>
                    <a:pt x="544" y="468558"/>
                  </a:lnTo>
                  <a:lnTo>
                    <a:pt x="3538" y="464748"/>
                  </a:lnTo>
                  <a:lnTo>
                    <a:pt x="148591" y="226242"/>
                  </a:lnTo>
                  <a:lnTo>
                    <a:pt x="272" y="873"/>
                  </a:lnTo>
                  <a:close/>
                </a:path>
              </a:pathLst>
            </a:cu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4B1E6B31-18AA-3062-F3E6-1CDB77D60462}"/>
                </a:ext>
              </a:extLst>
            </p:cNvPr>
            <p:cNvSpPr/>
            <p:nvPr/>
          </p:nvSpPr>
          <p:spPr>
            <a:xfrm>
              <a:off x="1388110" y="3013075"/>
              <a:ext cx="303112" cy="184350"/>
            </a:xfrm>
            <a:custGeom>
              <a:avLst/>
              <a:gdLst>
                <a:gd name="csX0" fmla="*/ 143160 w 303112"/>
                <a:gd name="csY0" fmla="*/ 0 h 184350"/>
                <a:gd name="csX1" fmla="*/ 303112 w 303112"/>
                <a:gd name="csY1" fmla="*/ 0 h 184350"/>
                <a:gd name="csX2" fmla="*/ 0 w 303112"/>
                <a:gd name="csY2" fmla="*/ 184350 h 184350"/>
                <a:gd name="csX3" fmla="*/ 2994 w 303112"/>
                <a:gd name="csY3" fmla="*/ 181352 h 184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3112" h="184350">
                  <a:moveTo>
                    <a:pt x="143160" y="0"/>
                  </a:moveTo>
                  <a:lnTo>
                    <a:pt x="303112" y="0"/>
                  </a:lnTo>
                  <a:lnTo>
                    <a:pt x="0" y="184350"/>
                  </a:lnTo>
                  <a:lnTo>
                    <a:pt x="2994" y="181352"/>
                  </a:lnTo>
                  <a:close/>
                </a:path>
              </a:pathLst>
            </a:cu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E1247EE2-A8D6-D826-22B1-DD98690C2458}"/>
              </a:ext>
            </a:extLst>
          </p:cNvPr>
          <p:cNvSpPr txBox="1"/>
          <p:nvPr/>
        </p:nvSpPr>
        <p:spPr>
          <a:xfrm>
            <a:off x="770363" y="5538623"/>
            <a:ext cx="10226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SVG is code at heart, but an LLM cannot design a complex figure beautifully in code — so draw the bitmap first, then convert it to SVG.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D31994-67F7-E936-EEA1-C42F55DE808B}"/>
              </a:ext>
            </a:extLst>
          </p:cNvPr>
          <p:cNvSpPr txBox="1"/>
          <p:nvPr/>
        </p:nvSpPr>
        <p:spPr>
          <a:xfrm>
            <a:off x="2729583" y="85797"/>
            <a:ext cx="92859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Nature 官方 artwork guide 明确写 avoid background shading，重点元素用最高饱和度，背景/语境用中性色。所以"给所有东西都加明暗"不是 Nature 的口味。</a:t>
            </a:r>
            <a:endParaRPr lang="en-US" altLang="zh-CN" sz="1600" dirty="0"/>
          </a:p>
          <a:p>
            <a:r>
              <a:rPr lang="zh-CN" altLang="en-US" sz="1600" dirty="0"/>
              <a:t>正确做法是分层，不是全面加光影：主体有完整体积 + 投影 + 遮挡，次要元素主动弱化。T3-02 就是这么做的——核是实心银灰带经纬网，衬板是半透明淡灰，不抢戏。</a:t>
            </a:r>
          </a:p>
        </p:txBody>
      </p:sp>
    </p:spTree>
    <p:extLst>
      <p:ext uri="{BB962C8B-B14F-4D97-AF65-F5344CB8AC3E}">
        <p14:creationId xmlns:p14="http://schemas.microsoft.com/office/powerpoint/2010/main" val="4145076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33D8B-CCEC-C038-BE9E-8F37E202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EF7D84B-0B6A-A3DD-8F72-9E17E9A726C8}"/>
              </a:ext>
            </a:extLst>
          </p:cNvPr>
          <p:cNvSpPr txBox="1"/>
          <p:nvPr/>
        </p:nvSpPr>
        <p:spPr>
          <a:xfrm>
            <a:off x="889462" y="1134946"/>
            <a:ext cx="95379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LLM can state "axis labels at 7 pt, define the error bars, use the NMI pastel palette" — those are executable rules. But "highlight the fireball 34° up and to the left" has no rule to follow.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ADA3E70-988E-21B3-04D6-AD81F253CFDC}"/>
              </a:ext>
            </a:extLst>
          </p:cNvPr>
          <p:cNvSpPr txBox="1"/>
          <p:nvPr/>
        </p:nvSpPr>
        <p:spPr>
          <a:xfrm>
            <a:off x="889462" y="713392"/>
            <a:ext cx="8591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Drawing with code alone is hard: the LLM itself has no design sense, but vision models do.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627EE53-D218-5701-73B1-9BA41879F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43" y="1741179"/>
            <a:ext cx="5742373" cy="202897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C4D620D-F775-01A1-3799-E1A85B2AB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013" y="2047820"/>
            <a:ext cx="3397826" cy="3567717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CDCD7C27-9CEC-BD25-F5EF-D892CA99D8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742" y="3831679"/>
            <a:ext cx="5742373" cy="22969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8BE2D45-5510-B5D6-1B18-88DA5521AD11}"/>
              </a:ext>
            </a:extLst>
          </p:cNvPr>
          <p:cNvSpPr txBox="1"/>
          <p:nvPr/>
        </p:nvSpPr>
        <p:spPr>
          <a:xfrm>
            <a:off x="315011" y="199506"/>
            <a:ext cx="1055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Route A</a:t>
            </a:r>
            <a:endParaRPr lang="zh-CN" altLang="en-US" sz="24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BE7B4FA-D660-55E3-C97B-F8698ED36473}"/>
              </a:ext>
            </a:extLst>
          </p:cNvPr>
          <p:cNvGrpSpPr/>
          <p:nvPr/>
        </p:nvGrpSpPr>
        <p:grpSpPr>
          <a:xfrm>
            <a:off x="641802" y="802427"/>
            <a:ext cx="142529" cy="191262"/>
            <a:chOff x="1387566" y="2828727"/>
            <a:chExt cx="314053" cy="368698"/>
          </a:xfrm>
        </p:grpSpPr>
        <p:sp>
          <p:nvSpPr>
            <p:cNvPr id="10" name="箭头: V 形 14">
              <a:extLst>
                <a:ext uri="{FF2B5EF4-FFF2-40B4-BE49-F238E27FC236}">
                  <a16:creationId xmlns:a16="http://schemas.microsoft.com/office/drawing/2014/main" id="{3F2EB843-9E48-DDBF-F8DE-0E52944440C9}"/>
                </a:ext>
              </a:extLst>
            </p:cNvPr>
            <p:cNvSpPr/>
            <p:nvPr/>
          </p:nvSpPr>
          <p:spPr>
            <a:xfrm>
              <a:off x="1387566" y="2828727"/>
              <a:ext cx="314053" cy="368698"/>
            </a:xfrm>
            <a:custGeom>
              <a:avLst/>
              <a:gdLst>
                <a:gd name="csX0" fmla="*/ 0 w 304800"/>
                <a:gd name="csY0" fmla="*/ 0 h 484632"/>
                <a:gd name="csX1" fmla="*/ 130628 w 304800"/>
                <a:gd name="csY1" fmla="*/ 0 h 484632"/>
                <a:gd name="csX2" fmla="*/ 304800 w 304800"/>
                <a:gd name="csY2" fmla="*/ 242316 h 484632"/>
                <a:gd name="csX3" fmla="*/ 130628 w 304800"/>
                <a:gd name="csY3" fmla="*/ 484632 h 484632"/>
                <a:gd name="csX4" fmla="*/ 0 w 304800"/>
                <a:gd name="csY4" fmla="*/ 484632 h 484632"/>
                <a:gd name="csX5" fmla="*/ 174172 w 304800"/>
                <a:gd name="csY5" fmla="*/ 242316 h 484632"/>
                <a:gd name="csX6" fmla="*/ 0 w 304800"/>
                <a:gd name="csY6" fmla="*/ 0 h 484632"/>
                <a:gd name="csX0" fmla="*/ 0 w 304800"/>
                <a:gd name="csY0" fmla="*/ 0 h 484632"/>
                <a:gd name="csX1" fmla="*/ 17417 w 304800"/>
                <a:gd name="csY1" fmla="*/ 0 h 484632"/>
                <a:gd name="csX2" fmla="*/ 304800 w 304800"/>
                <a:gd name="csY2" fmla="*/ 242316 h 484632"/>
                <a:gd name="csX3" fmla="*/ 130628 w 304800"/>
                <a:gd name="csY3" fmla="*/ 484632 h 484632"/>
                <a:gd name="csX4" fmla="*/ 0 w 304800"/>
                <a:gd name="csY4" fmla="*/ 484632 h 484632"/>
                <a:gd name="csX5" fmla="*/ 174172 w 304800"/>
                <a:gd name="csY5" fmla="*/ 242316 h 484632"/>
                <a:gd name="csX6" fmla="*/ 0 w 304800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82881 w 313509"/>
                <a:gd name="csY5" fmla="*/ 242316 h 484632"/>
                <a:gd name="csX6" fmla="*/ 8709 w 313509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13212 w 313509"/>
                <a:gd name="csY5" fmla="*/ 242316 h 484632"/>
                <a:gd name="csX6" fmla="*/ 8709 w 313509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91590 w 313509"/>
                <a:gd name="csY5" fmla="*/ 242316 h 484632"/>
                <a:gd name="csX6" fmla="*/ 8709 w 313509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48047 w 313509"/>
                <a:gd name="csY5" fmla="*/ 242316 h 484632"/>
                <a:gd name="csX6" fmla="*/ 8709 w 313509"/>
                <a:gd name="csY6" fmla="*/ 0 h 484632"/>
                <a:gd name="csX0" fmla="*/ 0 w 330926"/>
                <a:gd name="csY0" fmla="*/ 0 h 484632"/>
                <a:gd name="csX1" fmla="*/ 43543 w 330926"/>
                <a:gd name="csY1" fmla="*/ 0 h 484632"/>
                <a:gd name="csX2" fmla="*/ 330926 w 330926"/>
                <a:gd name="csY2" fmla="*/ 242316 h 484632"/>
                <a:gd name="csX3" fmla="*/ 17417 w 330926"/>
                <a:gd name="csY3" fmla="*/ 484632 h 484632"/>
                <a:gd name="csX4" fmla="*/ 26126 w 330926"/>
                <a:gd name="csY4" fmla="*/ 484632 h 484632"/>
                <a:gd name="csX5" fmla="*/ 165464 w 330926"/>
                <a:gd name="csY5" fmla="*/ 242316 h 484632"/>
                <a:gd name="csX6" fmla="*/ 0 w 330926"/>
                <a:gd name="csY6" fmla="*/ 0 h 484632"/>
                <a:gd name="csX0" fmla="*/ 0 w 330926"/>
                <a:gd name="csY0" fmla="*/ 5715 h 490347"/>
                <a:gd name="csX1" fmla="*/ 1633 w 330926"/>
                <a:gd name="csY1" fmla="*/ 0 h 490347"/>
                <a:gd name="csX2" fmla="*/ 330926 w 330926"/>
                <a:gd name="csY2" fmla="*/ 248031 h 490347"/>
                <a:gd name="csX3" fmla="*/ 17417 w 330926"/>
                <a:gd name="csY3" fmla="*/ 490347 h 490347"/>
                <a:gd name="csX4" fmla="*/ 26126 w 330926"/>
                <a:gd name="csY4" fmla="*/ 490347 h 490347"/>
                <a:gd name="csX5" fmla="*/ 165464 w 330926"/>
                <a:gd name="csY5" fmla="*/ 248031 h 490347"/>
                <a:gd name="csX6" fmla="*/ 0 w 330926"/>
                <a:gd name="csY6" fmla="*/ 5715 h 490347"/>
                <a:gd name="csX0" fmla="*/ 0 w 330926"/>
                <a:gd name="csY0" fmla="*/ 5715 h 490347"/>
                <a:gd name="csX1" fmla="*/ 1633 w 330926"/>
                <a:gd name="csY1" fmla="*/ 0 h 490347"/>
                <a:gd name="csX2" fmla="*/ 330926 w 330926"/>
                <a:gd name="csY2" fmla="*/ 248031 h 490347"/>
                <a:gd name="csX3" fmla="*/ 17417 w 330926"/>
                <a:gd name="csY3" fmla="*/ 490347 h 490347"/>
                <a:gd name="csX4" fmla="*/ 20411 w 330926"/>
                <a:gd name="csY4" fmla="*/ 486537 h 490347"/>
                <a:gd name="csX5" fmla="*/ 165464 w 330926"/>
                <a:gd name="csY5" fmla="*/ 248031 h 490347"/>
                <a:gd name="csX6" fmla="*/ 0 w 330926"/>
                <a:gd name="csY6" fmla="*/ 5715 h 490347"/>
                <a:gd name="csX0" fmla="*/ 5987 w 329293"/>
                <a:gd name="csY0" fmla="*/ 5715 h 490347"/>
                <a:gd name="csX1" fmla="*/ 0 w 329293"/>
                <a:gd name="csY1" fmla="*/ 0 h 490347"/>
                <a:gd name="csX2" fmla="*/ 329293 w 329293"/>
                <a:gd name="csY2" fmla="*/ 248031 h 490347"/>
                <a:gd name="csX3" fmla="*/ 15784 w 329293"/>
                <a:gd name="csY3" fmla="*/ 490347 h 490347"/>
                <a:gd name="csX4" fmla="*/ 18778 w 329293"/>
                <a:gd name="csY4" fmla="*/ 486537 h 490347"/>
                <a:gd name="csX5" fmla="*/ 163831 w 329293"/>
                <a:gd name="csY5" fmla="*/ 248031 h 490347"/>
                <a:gd name="csX6" fmla="*/ 5987 w 329293"/>
                <a:gd name="csY6" fmla="*/ 5715 h 490347"/>
                <a:gd name="csX0" fmla="*/ 19322 w 329293"/>
                <a:gd name="csY0" fmla="*/ 12978 h 490347"/>
                <a:gd name="csX1" fmla="*/ 0 w 329293"/>
                <a:gd name="csY1" fmla="*/ 0 h 490347"/>
                <a:gd name="csX2" fmla="*/ 329293 w 329293"/>
                <a:gd name="csY2" fmla="*/ 248031 h 490347"/>
                <a:gd name="csX3" fmla="*/ 15784 w 329293"/>
                <a:gd name="csY3" fmla="*/ 490347 h 490347"/>
                <a:gd name="csX4" fmla="*/ 18778 w 329293"/>
                <a:gd name="csY4" fmla="*/ 486537 h 490347"/>
                <a:gd name="csX5" fmla="*/ 163831 w 329293"/>
                <a:gd name="csY5" fmla="*/ 248031 h 490347"/>
                <a:gd name="csX6" fmla="*/ 19322 w 329293"/>
                <a:gd name="csY6" fmla="*/ 12978 h 490347"/>
                <a:gd name="csX0" fmla="*/ 4082 w 314053"/>
                <a:gd name="csY0" fmla="*/ 0 h 477369"/>
                <a:gd name="csX1" fmla="*/ 0 w 314053"/>
                <a:gd name="csY1" fmla="*/ 3969 h 477369"/>
                <a:gd name="csX2" fmla="*/ 314053 w 314053"/>
                <a:gd name="csY2" fmla="*/ 235053 h 477369"/>
                <a:gd name="csX3" fmla="*/ 544 w 314053"/>
                <a:gd name="csY3" fmla="*/ 477369 h 477369"/>
                <a:gd name="csX4" fmla="*/ 3538 w 314053"/>
                <a:gd name="csY4" fmla="*/ 473559 h 477369"/>
                <a:gd name="csX5" fmla="*/ 148591 w 314053"/>
                <a:gd name="csY5" fmla="*/ 235053 h 477369"/>
                <a:gd name="csX6" fmla="*/ 4082 w 314053"/>
                <a:gd name="csY6" fmla="*/ 0 h 477369"/>
                <a:gd name="csX0" fmla="*/ 0 w 317591"/>
                <a:gd name="csY0" fmla="*/ 873 h 473400"/>
                <a:gd name="csX1" fmla="*/ 3538 w 317591"/>
                <a:gd name="csY1" fmla="*/ 0 h 473400"/>
                <a:gd name="csX2" fmla="*/ 317591 w 317591"/>
                <a:gd name="csY2" fmla="*/ 231084 h 473400"/>
                <a:gd name="csX3" fmla="*/ 4082 w 317591"/>
                <a:gd name="csY3" fmla="*/ 473400 h 473400"/>
                <a:gd name="csX4" fmla="*/ 7076 w 317591"/>
                <a:gd name="csY4" fmla="*/ 469590 h 473400"/>
                <a:gd name="csX5" fmla="*/ 152129 w 317591"/>
                <a:gd name="csY5" fmla="*/ 231084 h 473400"/>
                <a:gd name="csX6" fmla="*/ 0 w 317591"/>
                <a:gd name="csY6" fmla="*/ 873 h 473400"/>
                <a:gd name="csX0" fmla="*/ 2177 w 314053"/>
                <a:gd name="csY0" fmla="*/ 0 h 477369"/>
                <a:gd name="csX1" fmla="*/ 0 w 314053"/>
                <a:gd name="csY1" fmla="*/ 3969 h 477369"/>
                <a:gd name="csX2" fmla="*/ 314053 w 314053"/>
                <a:gd name="csY2" fmla="*/ 235053 h 477369"/>
                <a:gd name="csX3" fmla="*/ 544 w 314053"/>
                <a:gd name="csY3" fmla="*/ 477369 h 477369"/>
                <a:gd name="csX4" fmla="*/ 3538 w 314053"/>
                <a:gd name="csY4" fmla="*/ 473559 h 477369"/>
                <a:gd name="csX5" fmla="*/ 148591 w 314053"/>
                <a:gd name="csY5" fmla="*/ 235053 h 477369"/>
                <a:gd name="csX6" fmla="*/ 2177 w 314053"/>
                <a:gd name="csY6" fmla="*/ 0 h 477369"/>
                <a:gd name="csX0" fmla="*/ 272 w 314053"/>
                <a:gd name="csY0" fmla="*/ 3294 h 473400"/>
                <a:gd name="csX1" fmla="*/ 0 w 314053"/>
                <a:gd name="csY1" fmla="*/ 0 h 473400"/>
                <a:gd name="csX2" fmla="*/ 314053 w 314053"/>
                <a:gd name="csY2" fmla="*/ 231084 h 473400"/>
                <a:gd name="csX3" fmla="*/ 544 w 314053"/>
                <a:gd name="csY3" fmla="*/ 473400 h 473400"/>
                <a:gd name="csX4" fmla="*/ 3538 w 314053"/>
                <a:gd name="csY4" fmla="*/ 469590 h 473400"/>
                <a:gd name="csX5" fmla="*/ 148591 w 314053"/>
                <a:gd name="csY5" fmla="*/ 231084 h 473400"/>
                <a:gd name="csX6" fmla="*/ 272 w 314053"/>
                <a:gd name="csY6" fmla="*/ 3294 h 473400"/>
                <a:gd name="csX0" fmla="*/ 15512 w 314053"/>
                <a:gd name="csY0" fmla="*/ 71081 h 473400"/>
                <a:gd name="csX1" fmla="*/ 0 w 314053"/>
                <a:gd name="csY1" fmla="*/ 0 h 473400"/>
                <a:gd name="csX2" fmla="*/ 314053 w 314053"/>
                <a:gd name="csY2" fmla="*/ 231084 h 473400"/>
                <a:gd name="csX3" fmla="*/ 544 w 314053"/>
                <a:gd name="csY3" fmla="*/ 473400 h 473400"/>
                <a:gd name="csX4" fmla="*/ 3538 w 314053"/>
                <a:gd name="csY4" fmla="*/ 469590 h 473400"/>
                <a:gd name="csX5" fmla="*/ 148591 w 314053"/>
                <a:gd name="csY5" fmla="*/ 231084 h 473400"/>
                <a:gd name="csX6" fmla="*/ 15512 w 314053"/>
                <a:gd name="csY6" fmla="*/ 71081 h 473400"/>
                <a:gd name="csX0" fmla="*/ 15512 w 314053"/>
                <a:gd name="csY0" fmla="*/ 66239 h 468558"/>
                <a:gd name="csX1" fmla="*/ 0 w 314053"/>
                <a:gd name="csY1" fmla="*/ 0 h 468558"/>
                <a:gd name="csX2" fmla="*/ 314053 w 314053"/>
                <a:gd name="csY2" fmla="*/ 226242 h 468558"/>
                <a:gd name="csX3" fmla="*/ 544 w 314053"/>
                <a:gd name="csY3" fmla="*/ 468558 h 468558"/>
                <a:gd name="csX4" fmla="*/ 3538 w 314053"/>
                <a:gd name="csY4" fmla="*/ 464748 h 468558"/>
                <a:gd name="csX5" fmla="*/ 148591 w 314053"/>
                <a:gd name="csY5" fmla="*/ 226242 h 468558"/>
                <a:gd name="csX6" fmla="*/ 15512 w 314053"/>
                <a:gd name="csY6" fmla="*/ 66239 h 468558"/>
                <a:gd name="csX0" fmla="*/ 2177 w 314053"/>
                <a:gd name="csY0" fmla="*/ 10557 h 468558"/>
                <a:gd name="csX1" fmla="*/ 0 w 314053"/>
                <a:gd name="csY1" fmla="*/ 0 h 468558"/>
                <a:gd name="csX2" fmla="*/ 314053 w 314053"/>
                <a:gd name="csY2" fmla="*/ 226242 h 468558"/>
                <a:gd name="csX3" fmla="*/ 544 w 314053"/>
                <a:gd name="csY3" fmla="*/ 468558 h 468558"/>
                <a:gd name="csX4" fmla="*/ 3538 w 314053"/>
                <a:gd name="csY4" fmla="*/ 464748 h 468558"/>
                <a:gd name="csX5" fmla="*/ 148591 w 314053"/>
                <a:gd name="csY5" fmla="*/ 226242 h 468558"/>
                <a:gd name="csX6" fmla="*/ 2177 w 314053"/>
                <a:gd name="csY6" fmla="*/ 10557 h 468558"/>
                <a:gd name="csX0" fmla="*/ 272 w 314053"/>
                <a:gd name="csY0" fmla="*/ 873 h 468558"/>
                <a:gd name="csX1" fmla="*/ 0 w 314053"/>
                <a:gd name="csY1" fmla="*/ 0 h 468558"/>
                <a:gd name="csX2" fmla="*/ 314053 w 314053"/>
                <a:gd name="csY2" fmla="*/ 226242 h 468558"/>
                <a:gd name="csX3" fmla="*/ 544 w 314053"/>
                <a:gd name="csY3" fmla="*/ 468558 h 468558"/>
                <a:gd name="csX4" fmla="*/ 3538 w 314053"/>
                <a:gd name="csY4" fmla="*/ 464748 h 468558"/>
                <a:gd name="csX5" fmla="*/ 148591 w 314053"/>
                <a:gd name="csY5" fmla="*/ 226242 h 468558"/>
                <a:gd name="csX6" fmla="*/ 272 w 314053"/>
                <a:gd name="csY6" fmla="*/ 873 h 468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53" h="468558">
                  <a:moveTo>
                    <a:pt x="272" y="873"/>
                  </a:moveTo>
                  <a:cubicBezTo>
                    <a:pt x="181" y="-225"/>
                    <a:pt x="91" y="1098"/>
                    <a:pt x="0" y="0"/>
                  </a:cubicBezTo>
                  <a:lnTo>
                    <a:pt x="314053" y="226242"/>
                  </a:lnTo>
                  <a:lnTo>
                    <a:pt x="544" y="468558"/>
                  </a:lnTo>
                  <a:lnTo>
                    <a:pt x="3538" y="464748"/>
                  </a:lnTo>
                  <a:lnTo>
                    <a:pt x="148591" y="226242"/>
                  </a:lnTo>
                  <a:lnTo>
                    <a:pt x="272" y="873"/>
                  </a:lnTo>
                  <a:close/>
                </a:path>
              </a:pathLst>
            </a:cu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DA012405-B5FD-1EE7-06DD-5D62507394CC}"/>
                </a:ext>
              </a:extLst>
            </p:cNvPr>
            <p:cNvSpPr/>
            <p:nvPr/>
          </p:nvSpPr>
          <p:spPr>
            <a:xfrm>
              <a:off x="1388110" y="3013075"/>
              <a:ext cx="303112" cy="184350"/>
            </a:xfrm>
            <a:custGeom>
              <a:avLst/>
              <a:gdLst>
                <a:gd name="csX0" fmla="*/ 143160 w 303112"/>
                <a:gd name="csY0" fmla="*/ 0 h 184350"/>
                <a:gd name="csX1" fmla="*/ 303112 w 303112"/>
                <a:gd name="csY1" fmla="*/ 0 h 184350"/>
                <a:gd name="csX2" fmla="*/ 0 w 303112"/>
                <a:gd name="csY2" fmla="*/ 184350 h 184350"/>
                <a:gd name="csX3" fmla="*/ 2994 w 303112"/>
                <a:gd name="csY3" fmla="*/ 181352 h 184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3112" h="184350">
                  <a:moveTo>
                    <a:pt x="143160" y="0"/>
                  </a:moveTo>
                  <a:lnTo>
                    <a:pt x="303112" y="0"/>
                  </a:lnTo>
                  <a:lnTo>
                    <a:pt x="0" y="184350"/>
                  </a:lnTo>
                  <a:lnTo>
                    <a:pt x="2994" y="181352"/>
                  </a:lnTo>
                  <a:close/>
                </a:path>
              </a:pathLst>
            </a:cu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61CC94C-8907-20FC-A4EB-9C079366E882}"/>
              </a:ext>
            </a:extLst>
          </p:cNvPr>
          <p:cNvGrpSpPr/>
          <p:nvPr/>
        </p:nvGrpSpPr>
        <p:grpSpPr>
          <a:xfrm>
            <a:off x="626897" y="6326746"/>
            <a:ext cx="142529" cy="191262"/>
            <a:chOff x="1387566" y="2828727"/>
            <a:chExt cx="314053" cy="368698"/>
          </a:xfrm>
        </p:grpSpPr>
        <p:sp>
          <p:nvSpPr>
            <p:cNvPr id="13" name="箭头: V 形 14">
              <a:extLst>
                <a:ext uri="{FF2B5EF4-FFF2-40B4-BE49-F238E27FC236}">
                  <a16:creationId xmlns:a16="http://schemas.microsoft.com/office/drawing/2014/main" id="{A20FBB21-762F-1F3A-D470-A0CEF0C27A5C}"/>
                </a:ext>
              </a:extLst>
            </p:cNvPr>
            <p:cNvSpPr/>
            <p:nvPr/>
          </p:nvSpPr>
          <p:spPr>
            <a:xfrm>
              <a:off x="1387566" y="2828727"/>
              <a:ext cx="314053" cy="368698"/>
            </a:xfrm>
            <a:custGeom>
              <a:avLst/>
              <a:gdLst>
                <a:gd name="csX0" fmla="*/ 0 w 304800"/>
                <a:gd name="csY0" fmla="*/ 0 h 484632"/>
                <a:gd name="csX1" fmla="*/ 130628 w 304800"/>
                <a:gd name="csY1" fmla="*/ 0 h 484632"/>
                <a:gd name="csX2" fmla="*/ 304800 w 304800"/>
                <a:gd name="csY2" fmla="*/ 242316 h 484632"/>
                <a:gd name="csX3" fmla="*/ 130628 w 304800"/>
                <a:gd name="csY3" fmla="*/ 484632 h 484632"/>
                <a:gd name="csX4" fmla="*/ 0 w 304800"/>
                <a:gd name="csY4" fmla="*/ 484632 h 484632"/>
                <a:gd name="csX5" fmla="*/ 174172 w 304800"/>
                <a:gd name="csY5" fmla="*/ 242316 h 484632"/>
                <a:gd name="csX6" fmla="*/ 0 w 304800"/>
                <a:gd name="csY6" fmla="*/ 0 h 484632"/>
                <a:gd name="csX0" fmla="*/ 0 w 304800"/>
                <a:gd name="csY0" fmla="*/ 0 h 484632"/>
                <a:gd name="csX1" fmla="*/ 17417 w 304800"/>
                <a:gd name="csY1" fmla="*/ 0 h 484632"/>
                <a:gd name="csX2" fmla="*/ 304800 w 304800"/>
                <a:gd name="csY2" fmla="*/ 242316 h 484632"/>
                <a:gd name="csX3" fmla="*/ 130628 w 304800"/>
                <a:gd name="csY3" fmla="*/ 484632 h 484632"/>
                <a:gd name="csX4" fmla="*/ 0 w 304800"/>
                <a:gd name="csY4" fmla="*/ 484632 h 484632"/>
                <a:gd name="csX5" fmla="*/ 174172 w 304800"/>
                <a:gd name="csY5" fmla="*/ 242316 h 484632"/>
                <a:gd name="csX6" fmla="*/ 0 w 304800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82881 w 313509"/>
                <a:gd name="csY5" fmla="*/ 242316 h 484632"/>
                <a:gd name="csX6" fmla="*/ 8709 w 313509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13212 w 313509"/>
                <a:gd name="csY5" fmla="*/ 242316 h 484632"/>
                <a:gd name="csX6" fmla="*/ 8709 w 313509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91590 w 313509"/>
                <a:gd name="csY5" fmla="*/ 242316 h 484632"/>
                <a:gd name="csX6" fmla="*/ 8709 w 313509"/>
                <a:gd name="csY6" fmla="*/ 0 h 484632"/>
                <a:gd name="csX0" fmla="*/ 8709 w 313509"/>
                <a:gd name="csY0" fmla="*/ 0 h 484632"/>
                <a:gd name="csX1" fmla="*/ 26126 w 313509"/>
                <a:gd name="csY1" fmla="*/ 0 h 484632"/>
                <a:gd name="csX2" fmla="*/ 313509 w 313509"/>
                <a:gd name="csY2" fmla="*/ 242316 h 484632"/>
                <a:gd name="csX3" fmla="*/ 0 w 313509"/>
                <a:gd name="csY3" fmla="*/ 484632 h 484632"/>
                <a:gd name="csX4" fmla="*/ 8709 w 313509"/>
                <a:gd name="csY4" fmla="*/ 484632 h 484632"/>
                <a:gd name="csX5" fmla="*/ 148047 w 313509"/>
                <a:gd name="csY5" fmla="*/ 242316 h 484632"/>
                <a:gd name="csX6" fmla="*/ 8709 w 313509"/>
                <a:gd name="csY6" fmla="*/ 0 h 484632"/>
                <a:gd name="csX0" fmla="*/ 0 w 330926"/>
                <a:gd name="csY0" fmla="*/ 0 h 484632"/>
                <a:gd name="csX1" fmla="*/ 43543 w 330926"/>
                <a:gd name="csY1" fmla="*/ 0 h 484632"/>
                <a:gd name="csX2" fmla="*/ 330926 w 330926"/>
                <a:gd name="csY2" fmla="*/ 242316 h 484632"/>
                <a:gd name="csX3" fmla="*/ 17417 w 330926"/>
                <a:gd name="csY3" fmla="*/ 484632 h 484632"/>
                <a:gd name="csX4" fmla="*/ 26126 w 330926"/>
                <a:gd name="csY4" fmla="*/ 484632 h 484632"/>
                <a:gd name="csX5" fmla="*/ 165464 w 330926"/>
                <a:gd name="csY5" fmla="*/ 242316 h 484632"/>
                <a:gd name="csX6" fmla="*/ 0 w 330926"/>
                <a:gd name="csY6" fmla="*/ 0 h 484632"/>
                <a:gd name="csX0" fmla="*/ 0 w 330926"/>
                <a:gd name="csY0" fmla="*/ 5715 h 490347"/>
                <a:gd name="csX1" fmla="*/ 1633 w 330926"/>
                <a:gd name="csY1" fmla="*/ 0 h 490347"/>
                <a:gd name="csX2" fmla="*/ 330926 w 330926"/>
                <a:gd name="csY2" fmla="*/ 248031 h 490347"/>
                <a:gd name="csX3" fmla="*/ 17417 w 330926"/>
                <a:gd name="csY3" fmla="*/ 490347 h 490347"/>
                <a:gd name="csX4" fmla="*/ 26126 w 330926"/>
                <a:gd name="csY4" fmla="*/ 490347 h 490347"/>
                <a:gd name="csX5" fmla="*/ 165464 w 330926"/>
                <a:gd name="csY5" fmla="*/ 248031 h 490347"/>
                <a:gd name="csX6" fmla="*/ 0 w 330926"/>
                <a:gd name="csY6" fmla="*/ 5715 h 490347"/>
                <a:gd name="csX0" fmla="*/ 0 w 330926"/>
                <a:gd name="csY0" fmla="*/ 5715 h 490347"/>
                <a:gd name="csX1" fmla="*/ 1633 w 330926"/>
                <a:gd name="csY1" fmla="*/ 0 h 490347"/>
                <a:gd name="csX2" fmla="*/ 330926 w 330926"/>
                <a:gd name="csY2" fmla="*/ 248031 h 490347"/>
                <a:gd name="csX3" fmla="*/ 17417 w 330926"/>
                <a:gd name="csY3" fmla="*/ 490347 h 490347"/>
                <a:gd name="csX4" fmla="*/ 20411 w 330926"/>
                <a:gd name="csY4" fmla="*/ 486537 h 490347"/>
                <a:gd name="csX5" fmla="*/ 165464 w 330926"/>
                <a:gd name="csY5" fmla="*/ 248031 h 490347"/>
                <a:gd name="csX6" fmla="*/ 0 w 330926"/>
                <a:gd name="csY6" fmla="*/ 5715 h 490347"/>
                <a:gd name="csX0" fmla="*/ 5987 w 329293"/>
                <a:gd name="csY0" fmla="*/ 5715 h 490347"/>
                <a:gd name="csX1" fmla="*/ 0 w 329293"/>
                <a:gd name="csY1" fmla="*/ 0 h 490347"/>
                <a:gd name="csX2" fmla="*/ 329293 w 329293"/>
                <a:gd name="csY2" fmla="*/ 248031 h 490347"/>
                <a:gd name="csX3" fmla="*/ 15784 w 329293"/>
                <a:gd name="csY3" fmla="*/ 490347 h 490347"/>
                <a:gd name="csX4" fmla="*/ 18778 w 329293"/>
                <a:gd name="csY4" fmla="*/ 486537 h 490347"/>
                <a:gd name="csX5" fmla="*/ 163831 w 329293"/>
                <a:gd name="csY5" fmla="*/ 248031 h 490347"/>
                <a:gd name="csX6" fmla="*/ 5987 w 329293"/>
                <a:gd name="csY6" fmla="*/ 5715 h 490347"/>
                <a:gd name="csX0" fmla="*/ 19322 w 329293"/>
                <a:gd name="csY0" fmla="*/ 12978 h 490347"/>
                <a:gd name="csX1" fmla="*/ 0 w 329293"/>
                <a:gd name="csY1" fmla="*/ 0 h 490347"/>
                <a:gd name="csX2" fmla="*/ 329293 w 329293"/>
                <a:gd name="csY2" fmla="*/ 248031 h 490347"/>
                <a:gd name="csX3" fmla="*/ 15784 w 329293"/>
                <a:gd name="csY3" fmla="*/ 490347 h 490347"/>
                <a:gd name="csX4" fmla="*/ 18778 w 329293"/>
                <a:gd name="csY4" fmla="*/ 486537 h 490347"/>
                <a:gd name="csX5" fmla="*/ 163831 w 329293"/>
                <a:gd name="csY5" fmla="*/ 248031 h 490347"/>
                <a:gd name="csX6" fmla="*/ 19322 w 329293"/>
                <a:gd name="csY6" fmla="*/ 12978 h 490347"/>
                <a:gd name="csX0" fmla="*/ 4082 w 314053"/>
                <a:gd name="csY0" fmla="*/ 0 h 477369"/>
                <a:gd name="csX1" fmla="*/ 0 w 314053"/>
                <a:gd name="csY1" fmla="*/ 3969 h 477369"/>
                <a:gd name="csX2" fmla="*/ 314053 w 314053"/>
                <a:gd name="csY2" fmla="*/ 235053 h 477369"/>
                <a:gd name="csX3" fmla="*/ 544 w 314053"/>
                <a:gd name="csY3" fmla="*/ 477369 h 477369"/>
                <a:gd name="csX4" fmla="*/ 3538 w 314053"/>
                <a:gd name="csY4" fmla="*/ 473559 h 477369"/>
                <a:gd name="csX5" fmla="*/ 148591 w 314053"/>
                <a:gd name="csY5" fmla="*/ 235053 h 477369"/>
                <a:gd name="csX6" fmla="*/ 4082 w 314053"/>
                <a:gd name="csY6" fmla="*/ 0 h 477369"/>
                <a:gd name="csX0" fmla="*/ 0 w 317591"/>
                <a:gd name="csY0" fmla="*/ 873 h 473400"/>
                <a:gd name="csX1" fmla="*/ 3538 w 317591"/>
                <a:gd name="csY1" fmla="*/ 0 h 473400"/>
                <a:gd name="csX2" fmla="*/ 317591 w 317591"/>
                <a:gd name="csY2" fmla="*/ 231084 h 473400"/>
                <a:gd name="csX3" fmla="*/ 4082 w 317591"/>
                <a:gd name="csY3" fmla="*/ 473400 h 473400"/>
                <a:gd name="csX4" fmla="*/ 7076 w 317591"/>
                <a:gd name="csY4" fmla="*/ 469590 h 473400"/>
                <a:gd name="csX5" fmla="*/ 152129 w 317591"/>
                <a:gd name="csY5" fmla="*/ 231084 h 473400"/>
                <a:gd name="csX6" fmla="*/ 0 w 317591"/>
                <a:gd name="csY6" fmla="*/ 873 h 473400"/>
                <a:gd name="csX0" fmla="*/ 2177 w 314053"/>
                <a:gd name="csY0" fmla="*/ 0 h 477369"/>
                <a:gd name="csX1" fmla="*/ 0 w 314053"/>
                <a:gd name="csY1" fmla="*/ 3969 h 477369"/>
                <a:gd name="csX2" fmla="*/ 314053 w 314053"/>
                <a:gd name="csY2" fmla="*/ 235053 h 477369"/>
                <a:gd name="csX3" fmla="*/ 544 w 314053"/>
                <a:gd name="csY3" fmla="*/ 477369 h 477369"/>
                <a:gd name="csX4" fmla="*/ 3538 w 314053"/>
                <a:gd name="csY4" fmla="*/ 473559 h 477369"/>
                <a:gd name="csX5" fmla="*/ 148591 w 314053"/>
                <a:gd name="csY5" fmla="*/ 235053 h 477369"/>
                <a:gd name="csX6" fmla="*/ 2177 w 314053"/>
                <a:gd name="csY6" fmla="*/ 0 h 477369"/>
                <a:gd name="csX0" fmla="*/ 272 w 314053"/>
                <a:gd name="csY0" fmla="*/ 3294 h 473400"/>
                <a:gd name="csX1" fmla="*/ 0 w 314053"/>
                <a:gd name="csY1" fmla="*/ 0 h 473400"/>
                <a:gd name="csX2" fmla="*/ 314053 w 314053"/>
                <a:gd name="csY2" fmla="*/ 231084 h 473400"/>
                <a:gd name="csX3" fmla="*/ 544 w 314053"/>
                <a:gd name="csY3" fmla="*/ 473400 h 473400"/>
                <a:gd name="csX4" fmla="*/ 3538 w 314053"/>
                <a:gd name="csY4" fmla="*/ 469590 h 473400"/>
                <a:gd name="csX5" fmla="*/ 148591 w 314053"/>
                <a:gd name="csY5" fmla="*/ 231084 h 473400"/>
                <a:gd name="csX6" fmla="*/ 272 w 314053"/>
                <a:gd name="csY6" fmla="*/ 3294 h 473400"/>
                <a:gd name="csX0" fmla="*/ 15512 w 314053"/>
                <a:gd name="csY0" fmla="*/ 71081 h 473400"/>
                <a:gd name="csX1" fmla="*/ 0 w 314053"/>
                <a:gd name="csY1" fmla="*/ 0 h 473400"/>
                <a:gd name="csX2" fmla="*/ 314053 w 314053"/>
                <a:gd name="csY2" fmla="*/ 231084 h 473400"/>
                <a:gd name="csX3" fmla="*/ 544 w 314053"/>
                <a:gd name="csY3" fmla="*/ 473400 h 473400"/>
                <a:gd name="csX4" fmla="*/ 3538 w 314053"/>
                <a:gd name="csY4" fmla="*/ 469590 h 473400"/>
                <a:gd name="csX5" fmla="*/ 148591 w 314053"/>
                <a:gd name="csY5" fmla="*/ 231084 h 473400"/>
                <a:gd name="csX6" fmla="*/ 15512 w 314053"/>
                <a:gd name="csY6" fmla="*/ 71081 h 473400"/>
                <a:gd name="csX0" fmla="*/ 15512 w 314053"/>
                <a:gd name="csY0" fmla="*/ 66239 h 468558"/>
                <a:gd name="csX1" fmla="*/ 0 w 314053"/>
                <a:gd name="csY1" fmla="*/ 0 h 468558"/>
                <a:gd name="csX2" fmla="*/ 314053 w 314053"/>
                <a:gd name="csY2" fmla="*/ 226242 h 468558"/>
                <a:gd name="csX3" fmla="*/ 544 w 314053"/>
                <a:gd name="csY3" fmla="*/ 468558 h 468558"/>
                <a:gd name="csX4" fmla="*/ 3538 w 314053"/>
                <a:gd name="csY4" fmla="*/ 464748 h 468558"/>
                <a:gd name="csX5" fmla="*/ 148591 w 314053"/>
                <a:gd name="csY5" fmla="*/ 226242 h 468558"/>
                <a:gd name="csX6" fmla="*/ 15512 w 314053"/>
                <a:gd name="csY6" fmla="*/ 66239 h 468558"/>
                <a:gd name="csX0" fmla="*/ 2177 w 314053"/>
                <a:gd name="csY0" fmla="*/ 10557 h 468558"/>
                <a:gd name="csX1" fmla="*/ 0 w 314053"/>
                <a:gd name="csY1" fmla="*/ 0 h 468558"/>
                <a:gd name="csX2" fmla="*/ 314053 w 314053"/>
                <a:gd name="csY2" fmla="*/ 226242 h 468558"/>
                <a:gd name="csX3" fmla="*/ 544 w 314053"/>
                <a:gd name="csY3" fmla="*/ 468558 h 468558"/>
                <a:gd name="csX4" fmla="*/ 3538 w 314053"/>
                <a:gd name="csY4" fmla="*/ 464748 h 468558"/>
                <a:gd name="csX5" fmla="*/ 148591 w 314053"/>
                <a:gd name="csY5" fmla="*/ 226242 h 468558"/>
                <a:gd name="csX6" fmla="*/ 2177 w 314053"/>
                <a:gd name="csY6" fmla="*/ 10557 h 468558"/>
                <a:gd name="csX0" fmla="*/ 272 w 314053"/>
                <a:gd name="csY0" fmla="*/ 873 h 468558"/>
                <a:gd name="csX1" fmla="*/ 0 w 314053"/>
                <a:gd name="csY1" fmla="*/ 0 h 468558"/>
                <a:gd name="csX2" fmla="*/ 314053 w 314053"/>
                <a:gd name="csY2" fmla="*/ 226242 h 468558"/>
                <a:gd name="csX3" fmla="*/ 544 w 314053"/>
                <a:gd name="csY3" fmla="*/ 468558 h 468558"/>
                <a:gd name="csX4" fmla="*/ 3538 w 314053"/>
                <a:gd name="csY4" fmla="*/ 464748 h 468558"/>
                <a:gd name="csX5" fmla="*/ 148591 w 314053"/>
                <a:gd name="csY5" fmla="*/ 226242 h 468558"/>
                <a:gd name="csX6" fmla="*/ 272 w 314053"/>
                <a:gd name="csY6" fmla="*/ 873 h 468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53" h="468558">
                  <a:moveTo>
                    <a:pt x="272" y="873"/>
                  </a:moveTo>
                  <a:cubicBezTo>
                    <a:pt x="181" y="-225"/>
                    <a:pt x="91" y="1098"/>
                    <a:pt x="0" y="0"/>
                  </a:cubicBezTo>
                  <a:lnTo>
                    <a:pt x="314053" y="226242"/>
                  </a:lnTo>
                  <a:lnTo>
                    <a:pt x="544" y="468558"/>
                  </a:lnTo>
                  <a:lnTo>
                    <a:pt x="3538" y="464748"/>
                  </a:lnTo>
                  <a:lnTo>
                    <a:pt x="148591" y="226242"/>
                  </a:lnTo>
                  <a:lnTo>
                    <a:pt x="272" y="873"/>
                  </a:lnTo>
                  <a:close/>
                </a:path>
              </a:pathLst>
            </a:cu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AF0AC13E-6B2C-C113-1C5E-22EDC8C81D6F}"/>
                </a:ext>
              </a:extLst>
            </p:cNvPr>
            <p:cNvSpPr/>
            <p:nvPr/>
          </p:nvSpPr>
          <p:spPr>
            <a:xfrm>
              <a:off x="1388110" y="3013075"/>
              <a:ext cx="303112" cy="184350"/>
            </a:xfrm>
            <a:custGeom>
              <a:avLst/>
              <a:gdLst>
                <a:gd name="csX0" fmla="*/ 143160 w 303112"/>
                <a:gd name="csY0" fmla="*/ 0 h 184350"/>
                <a:gd name="csX1" fmla="*/ 303112 w 303112"/>
                <a:gd name="csY1" fmla="*/ 0 h 184350"/>
                <a:gd name="csX2" fmla="*/ 0 w 303112"/>
                <a:gd name="csY2" fmla="*/ 184350 h 184350"/>
                <a:gd name="csX3" fmla="*/ 2994 w 303112"/>
                <a:gd name="csY3" fmla="*/ 181352 h 184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3112" h="184350">
                  <a:moveTo>
                    <a:pt x="143160" y="0"/>
                  </a:moveTo>
                  <a:lnTo>
                    <a:pt x="303112" y="0"/>
                  </a:lnTo>
                  <a:lnTo>
                    <a:pt x="0" y="184350"/>
                  </a:lnTo>
                  <a:lnTo>
                    <a:pt x="2994" y="181352"/>
                  </a:lnTo>
                  <a:close/>
                </a:path>
              </a:pathLst>
            </a:cu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6E252AB0-2294-A786-68C7-A77C3B2D18D9}"/>
              </a:ext>
            </a:extLst>
          </p:cNvPr>
          <p:cNvSpPr txBox="1"/>
          <p:nvPr/>
        </p:nvSpPr>
        <p:spPr>
          <a:xfrm>
            <a:off x="1033841" y="6237710"/>
            <a:ext cx="4271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particle sphere is drawn with a library</a:t>
            </a:r>
          </a:p>
        </p:txBody>
      </p:sp>
    </p:spTree>
    <p:extLst>
      <p:ext uri="{BB962C8B-B14F-4D97-AF65-F5344CB8AC3E}">
        <p14:creationId xmlns:p14="http://schemas.microsoft.com/office/powerpoint/2010/main" val="48319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62E3D-D7E5-94DE-8B19-ACCC73CDC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2C27788-9339-30A9-DBD6-D34BACF47C7A}"/>
              </a:ext>
            </a:extLst>
          </p:cNvPr>
          <p:cNvSpPr txBox="1"/>
          <p:nvPr/>
        </p:nvSpPr>
        <p:spPr>
          <a:xfrm>
            <a:off x="1645045" y="301469"/>
            <a:ext cx="637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skill constrains the vision model to a Nature-style bitmap, then traces it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0407DB-D2DC-212E-28B4-ED3DD5D0B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632" y="2283122"/>
            <a:ext cx="3277986" cy="13382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FD74393-1CFB-7664-F2F6-8480375A0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554" y="645412"/>
            <a:ext cx="3277985" cy="133993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EB0D0C3-9509-7865-ED40-7B8CAAEA6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539" y="938159"/>
            <a:ext cx="1585510" cy="146523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1DE0CFB-8329-D842-495E-B65DFD52C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415" y="2109143"/>
            <a:ext cx="2998050" cy="163663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9CFBD34-FC3A-168B-B6AF-8F24F8F43A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92" y="758406"/>
            <a:ext cx="3005703" cy="122693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439E115-ABEA-653E-140D-4431DFF900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4292" y="3745774"/>
            <a:ext cx="3175733" cy="299740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736454C-E7E1-1D21-4C54-EB525C09FE74}"/>
              </a:ext>
            </a:extLst>
          </p:cNvPr>
          <p:cNvSpPr txBox="1"/>
          <p:nvPr/>
        </p:nvSpPr>
        <p:spPr>
          <a:xfrm>
            <a:off x="315011" y="199506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Route B</a:t>
            </a:r>
            <a:endParaRPr lang="zh-CN" altLang="en-US" sz="24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F816B44-605D-1126-1762-D63C04C5CED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36" y="3685820"/>
            <a:ext cx="3174852" cy="299740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FFCB831-64E2-2FD0-A905-BD2E9DCD63E3}"/>
              </a:ext>
            </a:extLst>
          </p:cNvPr>
          <p:cNvSpPr txBox="1"/>
          <p:nvPr/>
        </p:nvSpPr>
        <p:spPr>
          <a:xfrm>
            <a:off x="9251092" y="1169771"/>
            <a:ext cx="2652583" cy="129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Stylish and colorful, but obviously "AI"</a:t>
            </a:r>
          </a:p>
          <a:p>
            <a:pPr>
              <a:lnSpc>
                <a:spcPct val="150000"/>
              </a:lnSpc>
            </a:pPr>
            <a:r>
              <a:rPr lang="en-US" dirty="0"/>
              <a:t>and physically wrong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0B073C2-80CD-7D33-A969-80C18E1A8536}"/>
              </a:ext>
            </a:extLst>
          </p:cNvPr>
          <p:cNvSpPr txBox="1"/>
          <p:nvPr/>
        </p:nvSpPr>
        <p:spPr>
          <a:xfrm>
            <a:off x="9054433" y="4719654"/>
            <a:ext cx="2652583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Needs strong constraints from the skill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4EACF1-95F0-9817-38D4-96A41195275F}"/>
              </a:ext>
            </a:extLst>
          </p:cNvPr>
          <p:cNvSpPr txBox="1"/>
          <p:nvPr/>
        </p:nvSpPr>
        <p:spPr>
          <a:xfrm>
            <a:off x="7510785" y="2643053"/>
            <a:ext cx="1022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GPT generated</a:t>
            </a:r>
          </a:p>
        </p:txBody>
      </p:sp>
    </p:spTree>
    <p:extLst>
      <p:ext uri="{BB962C8B-B14F-4D97-AF65-F5344CB8AC3E}">
        <p14:creationId xmlns:p14="http://schemas.microsoft.com/office/powerpoint/2010/main" val="3166750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9B21-5DD9-E7AD-0FF3-EF2D80589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7EC2D5-8B4F-C88F-506F-22F8DA41C459}"/>
              </a:ext>
            </a:extLst>
          </p:cNvPr>
          <p:cNvSpPr txBox="1"/>
          <p:nvPr/>
        </p:nvSpPr>
        <p:spPr>
          <a:xfrm>
            <a:off x="1645045" y="301469"/>
            <a:ext cx="637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skill constrains the vision model to a Nature-style bitmap, then traces it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3E6AC1-2D9F-2275-D15A-2B54E5C318D4}"/>
              </a:ext>
            </a:extLst>
          </p:cNvPr>
          <p:cNvSpPr txBox="1"/>
          <p:nvPr/>
        </p:nvSpPr>
        <p:spPr>
          <a:xfrm>
            <a:off x="315011" y="199506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Route B</a:t>
            </a:r>
            <a:endParaRPr lang="zh-CN" altLang="en-US" sz="24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7F8D04E-46F5-A0F5-37D5-B4C4B5C1CE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103" y="1230870"/>
            <a:ext cx="5168597" cy="487972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F6DD863-2926-88D6-7D39-7D457AAD31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01" y="1230870"/>
            <a:ext cx="5168597" cy="487972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FA38EE9-F18B-236B-93CF-5A62A9436F86}"/>
              </a:ext>
            </a:extLst>
          </p:cNvPr>
          <p:cNvSpPr txBox="1"/>
          <p:nvPr/>
        </p:nvSpPr>
        <p:spPr>
          <a:xfrm>
            <a:off x="5750589" y="3808324"/>
            <a:ext cx="592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→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83D30B-0940-81C1-256D-D659BEB422E6}"/>
              </a:ext>
            </a:extLst>
          </p:cNvPr>
          <p:cNvSpPr txBox="1"/>
          <p:nvPr/>
        </p:nvSpPr>
        <p:spPr>
          <a:xfrm>
            <a:off x="5651780" y="3486066"/>
            <a:ext cx="690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Trace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2C7F9A-2F16-A84E-12F8-9E23580BD141}"/>
              </a:ext>
            </a:extLst>
          </p:cNvPr>
          <p:cNvSpPr txBox="1"/>
          <p:nvPr/>
        </p:nvSpPr>
        <p:spPr>
          <a:xfrm>
            <a:off x="2244776" y="970080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Bitmap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9EE877-6A8B-81A8-5735-483E6ABBD53B}"/>
              </a:ext>
            </a:extLst>
          </p:cNvPr>
          <p:cNvSpPr txBox="1"/>
          <p:nvPr/>
        </p:nvSpPr>
        <p:spPr>
          <a:xfrm>
            <a:off x="8773037" y="970080"/>
            <a:ext cx="944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Vector</a:t>
            </a:r>
          </a:p>
        </p:txBody>
      </p:sp>
    </p:spTree>
    <p:extLst>
      <p:ext uri="{BB962C8B-B14F-4D97-AF65-F5344CB8AC3E}">
        <p14:creationId xmlns:p14="http://schemas.microsoft.com/office/powerpoint/2010/main" val="3906129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37A1D-65CD-98CE-52F8-7ECFC4848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06292D-C6CE-1DC4-041D-1117022F20E5}"/>
              </a:ext>
            </a:extLst>
          </p:cNvPr>
          <p:cNvSpPr txBox="1"/>
          <p:nvPr/>
        </p:nvSpPr>
        <p:spPr>
          <a:xfrm>
            <a:off x="679690" y="1125610"/>
            <a:ext cx="9592691" cy="2222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dirty="0"/>
              <a:t>2. Tracing a bitmap to vector needs structure — define each part, draw each with its own tool.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dirty="0"/>
              <a:t>Text: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dirty="0"/>
              <a:t>Regular shapes: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dirty="0"/>
              <a:t>Irregular / shaded shapes: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dirty="0"/>
              <a:t>Grouping: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dirty="0"/>
              <a:t>May need converting back to a bitmap — in the end it can only be a bitmap. The color is must fluent</a:t>
            </a:r>
            <a:endParaRPr lang="en-US" altLang="zh-CN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B625728-1BCE-0934-7B39-56B1FE066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16161"/>
              </p:ext>
            </p:extLst>
          </p:nvPr>
        </p:nvGraphicFramePr>
        <p:xfrm>
          <a:off x="710109" y="3928271"/>
          <a:ext cx="105156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42332">
                  <a:extLst>
                    <a:ext uri="{9D8B030D-6E8A-4147-A177-3AD203B41FA5}">
                      <a16:colId xmlns:a16="http://schemas.microsoft.com/office/drawing/2014/main" val="2715338286"/>
                    </a:ext>
                  </a:extLst>
                </a:gridCol>
                <a:gridCol w="5573268">
                  <a:extLst>
                    <a:ext uri="{9D8B030D-6E8A-4147-A177-3AD203B41FA5}">
                      <a16:colId xmlns:a16="http://schemas.microsoft.com/office/drawing/2014/main" val="2345960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Dimension</a:t>
                      </a:r>
                      <a:endParaRPr lang="zh-CN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How it might be measured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541823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Visual hierarchy</a:t>
                      </a:r>
                      <a:endParaRPr lang="zh-CN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Is there a hero element? How big is the primary/secondary contrast?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18397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Whitespace rhythm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Evenly spread or in blocks? (we measure total only, not distribution)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10843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Depth layering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Do foreground / midground / background differ in lightness or saturation?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58892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Colour discipline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How many colour families? Any stray colours outside the palette?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19457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Detail density gradient</a:t>
                      </a:r>
                      <a:endParaRPr lang="zh-CN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Dense in the centre, sparse at the edges?</a:t>
                      </a:r>
                      <a:endParaRPr lang="zh-CN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08198058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6140329-6A79-6839-EC04-E3E1AF62B773}"/>
              </a:ext>
            </a:extLst>
          </p:cNvPr>
          <p:cNvSpPr txBox="1"/>
          <p:nvPr/>
        </p:nvSpPr>
        <p:spPr>
          <a:xfrm>
            <a:off x="654976" y="3441625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3. What exactly is the "Nature feel"? Possible answers: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D603474-071E-0D97-2609-24C794D9213F}"/>
              </a:ext>
            </a:extLst>
          </p:cNvPr>
          <p:cNvSpPr txBox="1"/>
          <p:nvPr/>
        </p:nvSpPr>
        <p:spPr>
          <a:xfrm>
            <a:off x="679690" y="662796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Does Nature accept both bitmaps and vectors?</a:t>
            </a:r>
            <a:endParaRPr lang="en-US" altLang="zh-CN" sz="1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380162-07D2-BFA0-4F47-C2831B6DD7F2}"/>
              </a:ext>
            </a:extLst>
          </p:cNvPr>
          <p:cNvSpPr txBox="1"/>
          <p:nvPr/>
        </p:nvSpPr>
        <p:spPr>
          <a:xfrm>
            <a:off x="315011" y="199506"/>
            <a:ext cx="740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Plan</a:t>
            </a:r>
            <a:endParaRPr lang="zh-CN" altLang="en-US" sz="24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FC7F78-52F7-F0FC-797C-AAD52B537666}"/>
              </a:ext>
            </a:extLst>
          </p:cNvPr>
          <p:cNvSpPr txBox="1"/>
          <p:nvPr/>
        </p:nvSpPr>
        <p:spPr>
          <a:xfrm>
            <a:off x="654976" y="6033909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Or just give the AI a figure library as reference</a:t>
            </a:r>
            <a:endParaRPr lang="zh-CN" altLang="en-US" sz="1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6187D6-D654-2F82-34CD-56F67FDF6041}"/>
              </a:ext>
            </a:extLst>
          </p:cNvPr>
          <p:cNvSpPr txBox="1"/>
          <p:nvPr/>
        </p:nvSpPr>
        <p:spPr>
          <a:xfrm>
            <a:off x="654976" y="6403241"/>
            <a:ext cx="309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Iterate many times, fix bugs</a:t>
            </a:r>
            <a:endParaRPr lang="zh-CN" altLang="en-US" sz="1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58AB23-978B-B63C-27F8-00C8D90EF7C7}"/>
              </a:ext>
            </a:extLst>
          </p:cNvPr>
          <p:cNvSpPr txBox="1"/>
          <p:nvPr/>
        </p:nvSpPr>
        <p:spPr>
          <a:xfrm>
            <a:off x="5692197" y="6403241"/>
            <a:ext cx="1743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5.Time is long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66484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A4FD-B96B-48FA-B154-6B0B4864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D6C4EC-6CEB-86C9-CACD-E49D976EB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474" y="3541099"/>
            <a:ext cx="3804429" cy="28904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CB43F46-0525-4958-75BA-B0F39975A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93" y="4288956"/>
            <a:ext cx="4876800" cy="199072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03B8615-F850-BC9F-45D9-36955E834366}"/>
              </a:ext>
            </a:extLst>
          </p:cNvPr>
          <p:cNvSpPr txBox="1"/>
          <p:nvPr/>
        </p:nvSpPr>
        <p:spPr>
          <a:xfrm>
            <a:off x="548640" y="578319"/>
            <a:ext cx="7521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simple style reference reduces the "AI look" — but the physics is wrong, so the skill has to constrain it.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11620AC-D038-E7F7-EA78-962CD4B228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059801"/>
            <a:ext cx="4175760" cy="301038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7D7C7A2-2AB7-72CB-DCB4-BB39BBBC84D5}"/>
              </a:ext>
            </a:extLst>
          </p:cNvPr>
          <p:cNvSpPr txBox="1"/>
          <p:nvPr/>
        </p:nvSpPr>
        <p:spPr>
          <a:xfrm>
            <a:off x="5612667" y="5099652"/>
            <a:ext cx="118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Generate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28869E-74F3-94AC-71D9-9C92380B93FF}"/>
              </a:ext>
            </a:extLst>
          </p:cNvPr>
          <p:cNvSpPr txBox="1"/>
          <p:nvPr/>
        </p:nvSpPr>
        <p:spPr>
          <a:xfrm>
            <a:off x="2235608" y="1922713"/>
            <a:ext cx="1133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3234943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EE13D3D-E094-9B5E-922A-0CEF212688CA}"/>
              </a:ext>
            </a:extLst>
          </p:cNvPr>
          <p:cNvSpPr txBox="1"/>
          <p:nvPr/>
        </p:nvSpPr>
        <p:spPr>
          <a:xfrm>
            <a:off x="303511" y="50644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b="1" dirty="0"/>
              <a:t>临摹保真度</a:t>
            </a:r>
            <a:r>
              <a:rPr lang="zh-CN" altLang="zh-CN" dirty="0"/>
              <a:t>：</a:t>
            </a:r>
            <a:r>
              <a:rPr lang="zh-CN" altLang="zh-CN" dirty="0">
                <a:latin typeface="+mn-lt"/>
              </a:rPr>
              <a:t>wanx2.1-t2i-turbo</a:t>
            </a:r>
            <a:r>
              <a:rPr lang="zh-CN" altLang="zh-CN" dirty="0"/>
              <a:t> 55.81 dB ＞ </a:t>
            </a:r>
            <a:r>
              <a:rPr lang="zh-CN" altLang="zh-CN" dirty="0">
                <a:latin typeface="+mn-lt"/>
              </a:rPr>
              <a:t>wanx2.0-t2i-turbo</a:t>
            </a:r>
            <a:r>
              <a:rPr lang="zh-CN" altLang="zh-CN" dirty="0"/>
              <a:t> 53.31 ＞ </a:t>
            </a:r>
            <a:r>
              <a:rPr lang="zh-CN" altLang="zh-CN" dirty="0">
                <a:latin typeface="+mn-lt"/>
              </a:rPr>
              <a:t>qwen-image-3.0</a:t>
            </a:r>
            <a:r>
              <a:rPr lang="zh-CN" altLang="zh-CN" dirty="0"/>
              <a:t> 46.64 ＞ </a:t>
            </a:r>
            <a:r>
              <a:rPr lang="zh-CN" altLang="zh-CN" dirty="0">
                <a:latin typeface="+mn-lt"/>
              </a:rPr>
              <a:t>wan2.2-t2i-flash</a:t>
            </a:r>
            <a:r>
              <a:rPr lang="zh-CN" altLang="zh-CN" dirty="0"/>
              <a:t> 44.89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b="1" dirty="0"/>
              <a:t>图本身的质量/物理合理性</a:t>
            </a:r>
            <a:r>
              <a:rPr lang="zh-CN" altLang="zh-CN" dirty="0"/>
              <a:t>：</a:t>
            </a:r>
            <a:r>
              <a:rPr lang="zh-CN" altLang="zh-CN" dirty="0">
                <a:latin typeface="+mn-lt"/>
              </a:rPr>
              <a:t>qwen-image-3.0</a:t>
            </a:r>
            <a:r>
              <a:rPr lang="zh-CN" altLang="zh-CN" dirty="0"/>
              <a:t> 最好（真的画出了一个角度正确的圆柱、火球在中心、箭头从中心放射）；</a:t>
            </a:r>
            <a:r>
              <a:rPr lang="zh-CN" altLang="zh-CN" dirty="0">
                <a:latin typeface="+mn-lt"/>
              </a:rPr>
              <a:t>wanx2.0</a:t>
            </a:r>
            <a:r>
              <a:rPr lang="zh-CN" altLang="zh-CN" dirty="0"/>
              <a:t> 最差（不像圆柱，右下角还有垃圾笔画）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b="1" dirty="0"/>
              <a:t>最便宜</a:t>
            </a:r>
            <a:r>
              <a:rPr lang="zh-CN" altLang="zh-CN" dirty="0"/>
              <a:t>：</a:t>
            </a:r>
            <a:r>
              <a:rPr lang="zh-CN" altLang="zh-CN" dirty="0">
                <a:latin typeface="+mn-lt"/>
              </a:rPr>
              <a:t>wanx2.0-t2i-turbo</a:t>
            </a:r>
            <a:r>
              <a:rPr lang="zh-CN" altLang="zh-CN" dirty="0"/>
              <a:t> 0.04 元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8897A28-6878-0D05-9515-B7368570CB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57" y="3428999"/>
            <a:ext cx="4851906" cy="2705871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5AA5EB9E-4A7D-B388-9AFF-B119F19799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4843" y="4367358"/>
            <a:ext cx="3834063" cy="213618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578E469-0A4F-50E7-D1DF-A554EEEBE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694" y="0"/>
            <a:ext cx="4465980" cy="249064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C73DF6F-9C7A-07CD-2AF5-B34D6C504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4843" y="2322219"/>
            <a:ext cx="4011831" cy="221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95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5577-9F22-CAC2-B6F3-05FBB4E1D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50CFE25-C654-5FA9-F598-DB56835E76BE}"/>
              </a:ext>
            </a:extLst>
          </p:cNvPr>
          <p:cNvSpPr txBox="1"/>
          <p:nvPr/>
        </p:nvSpPr>
        <p:spPr>
          <a:xfrm>
            <a:off x="251016" y="1229876"/>
            <a:ext cx="1120519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Input: reference figure / hand-drawn sketch / text description</a:t>
            </a:r>
          </a:p>
          <a:p>
            <a:r>
              <a:rPr lang="zh-CN" altLang="en-US" dirty="0"/>
              <a:t>   ↓</a:t>
            </a:r>
          </a:p>
          <a:p>
            <a:r>
              <a:rPr lang="en-US" dirty="0"/>
              <a:t>①  Write the IR  (physics layer + elements + composition + </a:t>
            </a:r>
            <a:r>
              <a:rPr lang="en-US" dirty="0" err="1"/>
              <a:t>geometry_constraints</a:t>
            </a:r>
            <a:r>
              <a:rPr lang="en-US" dirty="0"/>
              <a:t>)</a:t>
            </a:r>
          </a:p>
          <a:p>
            <a:r>
              <a:rPr lang="zh-CN" altLang="en-US" dirty="0"/>
              <a:t>   ↓</a:t>
            </a:r>
          </a:p>
          <a:p>
            <a:pPr marL="342900" indent="-342900">
              <a:buAutoNum type="circleNumDbPlain" startAt="2"/>
            </a:pPr>
            <a:r>
              <a:rPr lang="en-US" altLang="zh-CN" dirty="0"/>
              <a:t>A </a:t>
            </a:r>
            <a:r>
              <a:rPr lang="en-US" altLang="zh-CN" dirty="0" err="1"/>
              <a:t>一句话生成图片</a:t>
            </a:r>
            <a:endParaRPr lang="en-US" altLang="zh-CN" dirty="0"/>
          </a:p>
          <a:p>
            <a:r>
              <a:rPr lang="en-US" altLang="zh-CN" dirty="0"/>
              <a:t>      </a:t>
            </a:r>
            <a:r>
              <a:rPr lang="en-US" altLang="zh-CN" dirty="0">
                <a:highlight>
                  <a:srgbClr val="FFFF00"/>
                </a:highlight>
              </a:rPr>
              <a:t>B </a:t>
            </a:r>
            <a:r>
              <a:rPr lang="en-US" altLang="zh-CN" dirty="0" err="1">
                <a:highlight>
                  <a:srgbClr val="FFFF00"/>
                </a:highlight>
              </a:rPr>
              <a:t>防抄风格图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en-US" dirty="0"/>
              <a:t>      C </a:t>
            </a:r>
            <a:r>
              <a:rPr lang="en-US" dirty="0" err="1"/>
              <a:t>逐步修正简单物理错误，生成草图</a:t>
            </a:r>
            <a:endParaRPr lang="en-US" dirty="0"/>
          </a:p>
          <a:p>
            <a:pPr>
              <a:tabLst>
                <a:tab pos="6400800" algn="l"/>
              </a:tabLst>
            </a:pPr>
            <a:r>
              <a:rPr lang="en-US" dirty="0"/>
              <a:t>   ├ </a:t>
            </a:r>
            <a:r>
              <a:rPr lang="en-US" b="1" dirty="0"/>
              <a:t>Image sketch → check sketch →</a:t>
            </a:r>
            <a:r>
              <a:rPr lang="en-US" altLang="zh-CN" b="1" dirty="0"/>
              <a:t> finished bitmap → trace →</a:t>
            </a:r>
            <a:r>
              <a:rPr lang="en-US" b="1" dirty="0"/>
              <a:t> author SVG </a:t>
            </a:r>
          </a:p>
          <a:p>
            <a:pPr>
              <a:tabLst>
                <a:tab pos="6400800" algn="l"/>
              </a:tabLst>
            </a:pPr>
            <a:r>
              <a:rPr lang="en-US" altLang="zh-CN" b="1" dirty="0"/>
              <a:t>  </a:t>
            </a:r>
            <a:r>
              <a:rPr lang="zh-CN" altLang="en-US" dirty="0"/>
              <a:t>↓</a:t>
            </a:r>
          </a:p>
          <a:p>
            <a:r>
              <a:rPr lang="en-US" dirty="0"/>
              <a:t>③  The </a:t>
            </a:r>
            <a:r>
              <a:rPr lang="en-US" dirty="0" err="1"/>
              <a:t>proceccd</a:t>
            </a:r>
            <a:r>
              <a:rPr lang="en-US" dirty="0"/>
              <a:t> of author SVG:</a:t>
            </a:r>
          </a:p>
          <a:p>
            <a:r>
              <a:rPr lang="en-US" dirty="0"/>
              <a:t>Scene Graph extraction → </a:t>
            </a:r>
            <a:r>
              <a:rPr lang="en-US" dirty="0">
                <a:highlight>
                  <a:srgbClr val="FFFF00"/>
                </a:highlight>
              </a:rPr>
              <a:t>deterministic recomposition </a:t>
            </a:r>
            <a:r>
              <a:rPr lang="en-US" dirty="0"/>
              <a:t>→ structured description → SVG</a:t>
            </a:r>
          </a:p>
          <a:p>
            <a:r>
              <a:rPr lang="zh-CN" altLang="en-US" dirty="0"/>
              <a:t>   ↓</a:t>
            </a:r>
          </a:p>
          <a:p>
            <a:r>
              <a:rPr lang="en-US" dirty="0"/>
              <a:t>④  Three gates + rework ticket → deliver (SVG working draft + PDF delivery copy)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04C501-A682-ADA5-5A75-EF5421D2ADB6}"/>
              </a:ext>
            </a:extLst>
          </p:cNvPr>
          <p:cNvSpPr txBox="1"/>
          <p:nvPr/>
        </p:nvSpPr>
        <p:spPr>
          <a:xfrm>
            <a:off x="2091147" y="26050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highlight>
                  <a:srgbClr val="FFFF00"/>
                </a:highlight>
              </a:rPr>
              <a:t>仓库示例</a:t>
            </a:r>
          </a:p>
        </p:txBody>
      </p:sp>
    </p:spTree>
    <p:extLst>
      <p:ext uri="{BB962C8B-B14F-4D97-AF65-F5344CB8AC3E}">
        <p14:creationId xmlns:p14="http://schemas.microsoft.com/office/powerpoint/2010/main" val="1892488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已检查的图像">
            <a:extLst>
              <a:ext uri="{FF2B5EF4-FFF2-40B4-BE49-F238E27FC236}">
                <a16:creationId xmlns:a16="http://schemas.microsoft.com/office/drawing/2014/main" id="{6058C36A-AFF6-340C-EEA4-88DC19D96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04" y="248029"/>
            <a:ext cx="5612829" cy="3066143"/>
          </a:xfrm>
          <a:prstGeom prst="rect">
            <a:avLst/>
          </a:prstGeom>
        </p:spPr>
      </p:pic>
      <p:pic>
        <p:nvPicPr>
          <p:cNvPr id="9" name="图片 8" descr="已检查的图像">
            <a:extLst>
              <a:ext uri="{FF2B5EF4-FFF2-40B4-BE49-F238E27FC236}">
                <a16:creationId xmlns:a16="http://schemas.microsoft.com/office/drawing/2014/main" id="{17AAC7DA-137A-6093-43BC-6CAA20517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31" y="3413760"/>
            <a:ext cx="5612827" cy="306614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A71012A-12B3-B436-75FE-626A3D619A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176" y="3265670"/>
            <a:ext cx="5121820" cy="2797917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E43AE559-9869-9C8E-3902-09EC68DB5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8664" y="827639"/>
            <a:ext cx="3834063" cy="2136186"/>
          </a:xfrm>
          <a:prstGeom prst="rect">
            <a:avLst/>
          </a:prstGeom>
        </p:spPr>
      </p:pic>
      <p:pic>
        <p:nvPicPr>
          <p:cNvPr id="2" name="图片 1" descr="A B C sheet">
            <a:extLst>
              <a:ext uri="{FF2B5EF4-FFF2-40B4-BE49-F238E27FC236}">
                <a16:creationId xmlns:a16="http://schemas.microsoft.com/office/drawing/2014/main" id="{6939A8C1-6AA0-B829-0930-CEC63F6B88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5918" y="1146089"/>
            <a:ext cx="2964671" cy="514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6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F25B4-EC0B-ECC2-C72B-99243B18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51D6B8E-022A-53D4-85B1-D62EC13D63FF}"/>
              </a:ext>
            </a:extLst>
          </p:cNvPr>
          <p:cNvSpPr txBox="1"/>
          <p:nvPr/>
        </p:nvSpPr>
        <p:spPr>
          <a:xfrm>
            <a:off x="553826" y="2669954"/>
            <a:ext cx="32742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基于</a:t>
            </a:r>
            <a:r>
              <a:rPr lang="en-US" altLang="zh-CN" dirty="0"/>
              <a:t>ai</a:t>
            </a:r>
          </a:p>
          <a:p>
            <a:r>
              <a:rPr lang="zh-CN" altLang="zh-CN" dirty="0"/>
              <a:t> </a:t>
            </a:r>
            <a:r>
              <a:rPr lang="zh-CN" altLang="zh-CN" dirty="0">
                <a:hlinkClick r:id="rId2"/>
              </a:rPr>
              <a:t>Vectorizer.AI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starvector</a:t>
            </a:r>
            <a:r>
              <a:rPr lang="en-US" altLang="zh-CN" dirty="0"/>
              <a:t>, cell-su7</a:t>
            </a:r>
          </a:p>
          <a:p>
            <a:r>
              <a:rPr lang="en-US" altLang="zh-CN" dirty="0" err="1"/>
              <a:t>Picdoc</a:t>
            </a:r>
            <a:r>
              <a:rPr lang="en-US" altLang="zh-CN" dirty="0"/>
              <a:t>, </a:t>
            </a:r>
            <a:r>
              <a:rPr lang="zh-CN" altLang="zh-CN" dirty="0"/>
              <a:t>SciDraw AI</a:t>
            </a:r>
            <a:r>
              <a:rPr lang="en-US" altLang="zh-CN" dirty="0"/>
              <a:t>, </a:t>
            </a:r>
            <a:r>
              <a:rPr lang="zh-CN" altLang="zh-CN" dirty="0"/>
              <a:t>PaperBanana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DC8DAC-0E5C-47A0-6431-15DFFA90BE43}"/>
              </a:ext>
            </a:extLst>
          </p:cNvPr>
          <p:cNvSpPr txBox="1"/>
          <p:nvPr/>
        </p:nvSpPr>
        <p:spPr>
          <a:xfrm>
            <a:off x="553826" y="1557146"/>
            <a:ext cx="2598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不基于</a:t>
            </a:r>
            <a:r>
              <a:rPr lang="en-US" altLang="zh-CN" dirty="0"/>
              <a:t>ai</a:t>
            </a:r>
          </a:p>
          <a:p>
            <a:r>
              <a:rPr lang="zh-CN" altLang="en-US" dirty="0"/>
              <a:t>像素 轮廓点 贝塞尔曲线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869B60-AAC3-12FF-57E5-D0D44B4E3CC1}"/>
              </a:ext>
            </a:extLst>
          </p:cNvPr>
          <p:cNvSpPr txBox="1"/>
          <p:nvPr/>
        </p:nvSpPr>
        <p:spPr>
          <a:xfrm>
            <a:off x="553826" y="3593284"/>
            <a:ext cx="197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AutoFigure</a:t>
            </a:r>
            <a:r>
              <a:rPr lang="zh-CN" altLang="en-US" dirty="0"/>
              <a:t>、</a:t>
            </a:r>
            <a:r>
              <a:rPr lang="zh-CN" altLang="zh-CN" dirty="0"/>
              <a:t>SciFig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4E8244-344C-2C22-2109-4172D6EC3C3F}"/>
              </a:ext>
            </a:extLst>
          </p:cNvPr>
          <p:cNvSpPr txBox="1"/>
          <p:nvPr/>
        </p:nvSpPr>
        <p:spPr>
          <a:xfrm>
            <a:off x="38839" y="5184114"/>
            <a:ext cx="58993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专门训练一个在自然图，高渐变色彩上的视觉分割模型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zh-CN" dirty="0"/>
              <a:t> "逐步剥离图层 + 可微矢量拟合"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在生成位图过程中多个</a:t>
            </a:r>
            <a:r>
              <a:rPr lang="en-US" altLang="zh-CN" dirty="0"/>
              <a:t>Agent</a:t>
            </a:r>
            <a:r>
              <a:rPr lang="zh-CN" altLang="en-US" dirty="0"/>
              <a:t>联合</a:t>
            </a:r>
            <a:endParaRPr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1AB9FC6-58FA-E4D4-0EAC-DD35AA893A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20" t="51411" r="5229" b="30691"/>
          <a:stretch>
            <a:fillRect/>
          </a:stretch>
        </p:blipFill>
        <p:spPr>
          <a:xfrm>
            <a:off x="4907864" y="439560"/>
            <a:ext cx="1952367" cy="1227438"/>
          </a:xfrm>
          <a:prstGeom prst="rect">
            <a:avLst/>
          </a:prstGeom>
        </p:spPr>
      </p:pic>
      <p:pic>
        <p:nvPicPr>
          <p:cNvPr id="14" name="图片 13" descr="AI Generated Image">
            <a:extLst>
              <a:ext uri="{FF2B5EF4-FFF2-40B4-BE49-F238E27FC236}">
                <a16:creationId xmlns:a16="http://schemas.microsoft.com/office/drawing/2014/main" id="{150A3221-1BAB-320C-FAB9-BC0275AE6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231" y="297338"/>
            <a:ext cx="1369660" cy="1369660"/>
          </a:xfrm>
          <a:prstGeom prst="rect">
            <a:avLst/>
          </a:prstGeom>
        </p:spPr>
      </p:pic>
      <p:pic>
        <p:nvPicPr>
          <p:cNvPr id="15" name="图片 14" descr="Generate a clean, publication-ready methodology diagram in academic style. Use precise geometric shapes for modules, clear directional arrows for data flow, consistent color coding for different components, and professional typography. Follow top-venue conventions (NeurIPS, ICML, ICLR) for layout, spacing, and visual hierarchy. Ensure logical correctness of all connections and labels. 画一个重离子碰撞领域的喷注淬火现象，3D期刊感觉，单面板">
            <a:extLst>
              <a:ext uri="{FF2B5EF4-FFF2-40B4-BE49-F238E27FC236}">
                <a16:creationId xmlns:a16="http://schemas.microsoft.com/office/drawing/2014/main" id="{53701F1F-1631-915A-793B-27AA046F3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855" y="305908"/>
            <a:ext cx="2041634" cy="136109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369F347-A2A0-46B7-CED9-7C4C539F51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7250" y="1745837"/>
            <a:ext cx="5899372" cy="171344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B9373B0-4AAC-D49A-9DDF-C3F697DA74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2758" y="3459278"/>
            <a:ext cx="4930140" cy="268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497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858" y="130652"/>
            <a:ext cx="11384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5394"/>
                </a:solidFill>
                <a:latin typeface="Microsoft YaHei"/>
                <a:ea typeface="Microsoft YaHei"/>
              </a:rPr>
              <a:t>Skill 完整思路（中文版）· 总览</a:t>
            </a:r>
          </a:p>
          <a:p>
            <a:r>
              <a:rPr sz="1250" b="0">
                <a:solidFill>
                  <a:srgbClr val="606060"/>
                </a:solidFill>
                <a:latin typeface="Microsoft YaHei"/>
                <a:ea typeface="Microsoft YaHei"/>
              </a:rPr>
              <a:t>画交给模型；skill 只做三件事：约束、验收、返修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13842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一句话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不要把精力花在「用代码把图画好看」——那条路性价比极低。代码该干的是把模型的输出卡对。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三条职责，各管一段</a:t>
            </a:r>
          </a:p>
          <a:p>
            <a:pPr lvl="1">
              <a:spcAft>
                <a:spcPts val="25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IR 管物理 ｜ 生图管风格 ｜ 矢量那一步管矢量化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谁做什么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画 = 视觉模型（有视觉先验，能做出代码拼不出的质感）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约束 = IR + geometry_constraints（防「好看但物理错」）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验收 = 门禁 + 闸门（模型看不见自己的输出，只能靠它们）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拍板 = 作者本人，且只一次：闸口①之后、成品位图之前（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make_picker → choice_gate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返修 = repair_brief.py 给「归一化坐标 + 具体错开量」，模型改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三块拼图的关系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输入（参考图 / 手绘草图 / 文字）→ ① 写 IR → ② 生图（A→B→C 阶梯，机械闸门）→ ③ 客户拍板 → ④ 位图精修 → ⑤ 位图→矢量（固定四档）→ ⑥ 门禁与交付。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本版对应 skill v4.14（相对上一版改了什么）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v4.13：A 档默认不带参考图（L2）；B/C 每轮必须把「修改前的图」交进去（L9）；C 档严格在上一张图上改（L10）。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v4.14：C 档改几何不许顺带改材质（L11）；B 档必须写明「保留 A 画得好的元素，甚至在其基础上更美观」（L12）。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9680FE-0D73-1D51-C67A-6CD601D0D03A}"/>
              </a:ext>
            </a:extLst>
          </p:cNvPr>
          <p:cNvSpPr txBox="1"/>
          <p:nvPr/>
        </p:nvSpPr>
        <p:spPr>
          <a:xfrm>
            <a:off x="5321644" y="3117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参考风格图的布局和配色，不参考元素，单面板，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84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5394"/>
                </a:solidFill>
                <a:latin typeface="Microsoft YaHei"/>
                <a:ea typeface="Microsoft YaHei"/>
              </a:rPr>
              <a:t>主流程：A→B→C→D 阶梯 + 闸口 + 门禁</a:t>
            </a:r>
          </a:p>
          <a:p>
            <a:r>
              <a:rPr sz="1250" b="0">
                <a:solidFill>
                  <a:srgbClr val="606060"/>
                </a:solidFill>
                <a:latin typeface="Microsoft YaHei"/>
                <a:ea typeface="Microsoft YaHei"/>
              </a:rPr>
              <a:t>入口固定 A 档；阶梯是机械闸门，不许跳档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13842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入口 = A 档（一句话）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一句话（≤80 字符），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默认不带风格参考图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 —— A 档是诊断档，看的是模型对这个题材的先验。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构图参考（手绘稿）是可选项：用户给就用，不给就不传。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无论上来的是什么，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3D 感是首要判据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：3D 感不到位的图，别的都对也不采用。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闸口⓪（出草图之前）：IR 的元素清单（中文 5–10 行）先贴给客户过目 / 加项，客户点头才开跑（element_list.py）—— 没点头 = NO_ELEMENT_ACK，不许调 API。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/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阶梯（ladder_gate.py 机械执行；不许跳档，也不许一上来就灌规格书）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A = 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一句话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（≤80 字符）；产物只作诊断，不许进交付链。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B = A 的文字 + 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风格图（--ref，风格从 B 档才引入）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 + 面板序列 + 输出硬约束；B 档看不到 A 的图（L9）。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C = 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元素替换档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：把 A 画得好的元素搬进来、替换 B 里对应的那一处（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L12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）；必须同时给 A、B 两张构图参考（L9）。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D 档要改形状 / 几何时，简报必须写明「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材质保持不变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」（L11）；D = 物理修正档，严格在上一张图上改（L10）。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D 档只写「上一轮错在哪 → 改成什么」；每上一档最多多 250 字符（L8）；风格图贯穿全阶梯（L7）。</a:t>
            </a:r>
          </a:p>
          <a:p>
            <a:pPr lvl="1">
              <a:spcAft>
                <a:spcPts val="25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C / D 每一轮都必须把「修改前的图」当构图参考交进去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（L9）—— 不给 = 硬伤，不许调 API。</a:t>
            </a:r>
          </a:p>
          <a:p>
            <a:pPr lvl="1">
              <a:spcAft>
                <a:spcPts val="25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草图 → 位图（render）：必须在最后一张草图的基础上改，改物理错、提质量，绝不换掉已经画对的元素（L13）。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闸口①：客户拍板（choice_gate.py）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没有客户回执 handoff/choice.json，就不许出成品位图（不烧 API 的钱）。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--by 只认 client / author / 客户 等；写 agent / auto 一律判失败。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三轴物理 + 出图后对账（axis_gate.py / keep_gate.py）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三轴物理：z 一般是束流方向，xyz 满足右手定则 + 斜二测 / 正等测（X7 / X8 / X9）。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形体对账：上一版有 → 这一版没了 逐块列出；另给「质感漂移」读数。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责任分界（重要）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草图管「对不对」（三轴物理、方向关系、不编数值）；位图管「全不全、精不精」（元素齐全度、配色、质感）。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交付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位图 → 矢量：--W 必须与源位图 1:1（v4.19 起默认就是 1:1），且必须与 panels 表画布一致 —— 降到 1664 时 UPC MAE 3.02，1:1（2324）1.95。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SVG 与 PDF/EPS 都要出；文字必须是真 &lt;text&gt;；不用 SVG 滤镜（否则 PDF 不再是纯矢量）。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84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5394"/>
                </a:solidFill>
                <a:latin typeface="Microsoft YaHei"/>
                <a:ea typeface="Microsoft YaHei"/>
              </a:rPr>
              <a:t>从输入提示词到生成位图：和别的工具有什么不一样</a:t>
            </a:r>
          </a:p>
          <a:p>
            <a:r>
              <a:rPr sz="1250" b="0">
                <a:solidFill>
                  <a:srgbClr val="606060"/>
                </a:solidFill>
                <a:latin typeface="Microsoft YaHei"/>
                <a:ea typeface="Microsoft YaHei"/>
              </a:rPr>
              <a:t>别的工具是一句 prompt 直接出图；本 skill 先写 IR、按阶梯加约束、过闸门才允许出图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13842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别的工具 = 一句 prompt 直接出图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提示词丢给 T2I，物理对错全靠运气：好看，但三轴标错、b 不落在核芯上、面内箭头比面外短。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想让它别跑偏只能堆形容词；负面词还会反噬 —— 实测写「不是花生」，那三张真画成了花生。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本 skill = 出图之前先「拦住」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① 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IR 先行（强制）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：物理层 + 元素 + 构图 + geometry_constraints；hard_physics 每条必须带 measure。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② 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A→B→C→D 阶梯 = 机械闸门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（ladder_gate.py）：A 一句话 → B 才引入风格图 + 面板序列 + 输出硬约束（看不到 A 的图）→ C 把 A 的好元素搬进来替换 B 的对应处 → D 只补上一轮真画错的。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③ 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C / D 每轮把「修改前的图」交进去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（L9）；草图 → 位图还要在最后一张草图基础上改，不换掉画对的元素（L13）。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④ 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出图前先过闸门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（ref_guard.py --run）：先让客户过元素清单并点头（NO_ELEMENT_ACK），再查参考图角色、IR 生效范围、IR 版式锁、阶梯合规 —— 查不过就不烧 API 的钱。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⑤ 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参考图分角色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（ref_role_gate.py）：style-only 只学风格，须付三笔代价；style+content 才照它的物理画。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     三笔代价 = 标签白名单 ≥3 + 面板序列 + 不要标题图例边框。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⑥ 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责任分界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：草图管「对不对」（三轴 / 方向关系），位图管「全不全、精不精」（元素齐全度 / 质感）。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出图之后仍然在量，不是「看一眼觉得行」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三轴闸门 axis_gate.py：X7 手性 = 右手、X8 投影 = 斜二测 / 正等测（不许透视）、X9 束流轴 = z；轴名必须与轴杆一一对应 —— 实测抓到过一根轴被标成两个名字。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3D 闸门 check_3d_generic.py / gate3d_rank.py：板面 / 接触阴影 / 高光偏离；扁平稿实测 3D 分 −0.2169，风格目标 T3-07 是 +0.0548。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形体对账 keep_gate.py：上一版有、这一版没了的东西逐块列出，另给「质感漂移」读数。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一句话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别的工具在「生成」；本 skill 在「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生成 + 可测量的约束 + 出图前就拦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」。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★ 具体到某一家的方法（哪家、怎么走）见下一页。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★ 位图 → 矢量那一段的同台对手不是 SAM，而是「逐步剥离图层 + 可微矢量拟合」（LIVE / LayerPeeler / LayerVec / Image Vectorization with Depth）—— 见「和网上那些工具差在哪」页。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84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5394"/>
                </a:solidFill>
                <a:latin typeface="Microsoft YaHei"/>
                <a:ea typeface="Microsoft YaHei"/>
              </a:rPr>
              <a:t>具体到工具：从输入到位图，各家分别走哪条路</a:t>
            </a:r>
          </a:p>
          <a:p>
            <a:r>
              <a:rPr sz="1250" b="0">
                <a:solidFill>
                  <a:srgbClr val="606060"/>
                </a:solidFill>
                <a:latin typeface="Microsoft YaHei"/>
                <a:ea typeface="Microsoft YaHei"/>
              </a:rPr>
              <a:t>同一句 prompt，落到不同工具上是完全不同的机制；本 skill 走的是最后一条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13842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① 纯 T2I：一句 prompt → </a:t>
            </a:r>
            <a:r>
              <a:rPr sz="125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位图</a:t>
            </a:r>
            <a:endParaRPr sz="1250" b="0" dirty="0">
              <a:solidFill>
                <a:srgbClr val="1A1A1A"/>
              </a:solidFill>
              <a:latin typeface="Microsoft YaHei"/>
              <a:ea typeface="Microsoft YaHei"/>
            </a:endParaRPr>
          </a:p>
          <a:p>
            <a:pPr lvl="1">
              <a:spcAft>
                <a:spcPts val="250"/>
              </a:spcAft>
            </a:pP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Midjourney、DALL·E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3、SD-XL、Flux、通义万相（wanx2.1-t2i-turbo）、Qwen-Image</a:t>
            </a:r>
          </a:p>
          <a:p>
            <a:pPr lvl="1">
              <a:spcAft>
                <a:spcPts val="250"/>
              </a:spcAft>
            </a:pP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方法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=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文本编码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扩散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DiT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采样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位图。</a:t>
            </a:r>
            <a:r>
              <a:rPr sz="1200" b="1" dirty="0" err="1">
                <a:solidFill>
                  <a:srgbClr val="1A1A1A"/>
                </a:solidFill>
                <a:latin typeface="Microsoft YaHei"/>
                <a:ea typeface="Microsoft YaHei"/>
              </a:rPr>
              <a:t>没有物理层、没有元素清单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，同一句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prompt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每次都不一样（第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1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页那两张就是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）。</a:t>
            </a:r>
          </a:p>
          <a:p>
            <a:pPr lvl="1">
              <a:spcAft>
                <a:spcPts val="250"/>
              </a:spcAft>
            </a:pP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纠错只能加形容词；负面词还会反噬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实测写「不是花生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」，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真画成花生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250"/>
              </a:spcAft>
            </a:pP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② prompt </a:t>
            </a:r>
            <a:r>
              <a:rPr sz="125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直接出矢量</a:t>
            </a:r>
            <a:endParaRPr sz="1250" b="0" dirty="0">
              <a:solidFill>
                <a:srgbClr val="1A1A1A"/>
              </a:solidFill>
              <a:latin typeface="Microsoft YaHei"/>
              <a:ea typeface="Microsoft YaHei"/>
            </a:endParaRPr>
          </a:p>
          <a:p>
            <a:pPr lvl="1">
              <a:spcAft>
                <a:spcPts val="250"/>
              </a:spcAft>
            </a:pP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Recraft V3（原生 SVG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输出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）、Adobe Illustrator 的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Firefly「文本转矢量图形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」</a:t>
            </a:r>
          </a:p>
          <a:p>
            <a:pPr lvl="1">
              <a:spcAft>
                <a:spcPts val="250"/>
              </a:spcAft>
            </a:pP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方法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= prompt →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直接生成矢量路径。省掉「位图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矢量」那一步，但语义仍是生成模型自己编的，</a:t>
            </a:r>
            <a:r>
              <a:rPr sz="1200" b="1" dirty="0" err="1">
                <a:solidFill>
                  <a:srgbClr val="1A1A1A"/>
                </a:solidFill>
                <a:latin typeface="Microsoft YaHei"/>
                <a:ea typeface="Microsoft YaHei"/>
              </a:rPr>
              <a:t>没有可审计的物理声明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250"/>
              </a:spcAft>
            </a:pP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③ LLM </a:t>
            </a:r>
            <a:r>
              <a:rPr sz="125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写代码再渲染（code-first</a:t>
            </a: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）</a:t>
            </a:r>
          </a:p>
          <a:p>
            <a:pPr lvl="1">
              <a:spcAft>
                <a:spcPts val="250"/>
              </a:spcAft>
            </a:pP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TikZ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LaTeX、matplotlib、Asymptote、直接写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SVG</a:t>
            </a:r>
          </a:p>
          <a:p>
            <a:pPr lvl="1">
              <a:spcAft>
                <a:spcPts val="250"/>
              </a:spcAft>
            </a:pP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方法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= prompt → LLM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出代码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渲染器栅格化。可控、可复现，但观感容易停在「干净的教科书插图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」—— 本 skill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正是实测到这里，才改成「先生位图、再转矢量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」。</a:t>
            </a:r>
          </a:p>
          <a:p>
            <a:pPr>
              <a:spcAft>
                <a:spcPts val="250"/>
              </a:spcAft>
            </a:pP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④ </a:t>
            </a:r>
            <a:r>
              <a:rPr sz="125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带参考图的「改图」档</a:t>
            </a:r>
            <a:endParaRPr sz="1250" b="0" dirty="0">
              <a:solidFill>
                <a:srgbClr val="1A1A1A"/>
              </a:solidFill>
              <a:latin typeface="Microsoft YaHei"/>
              <a:ea typeface="Microsoft YaHei"/>
            </a:endParaRPr>
          </a:p>
          <a:p>
            <a:pPr lvl="1">
              <a:spcAft>
                <a:spcPts val="250"/>
              </a:spcAft>
            </a:pP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Nano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Banana（Gemini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图像编辑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）、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Seedream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即梦、Qwen-Image-Edit</a:t>
            </a:r>
            <a:endParaRPr sz="1200" b="0" dirty="0">
              <a:solidFill>
                <a:srgbClr val="1A1A1A"/>
              </a:solidFill>
              <a:latin typeface="Microsoft YaHei"/>
              <a:ea typeface="Microsoft YaHei"/>
            </a:endParaRPr>
          </a:p>
          <a:p>
            <a:pPr lvl="1">
              <a:spcAft>
                <a:spcPts val="250"/>
              </a:spcAft>
            </a:pP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方法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= prompt +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参考图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直接改图。</a:t>
            </a:r>
            <a:r>
              <a:rPr sz="1200" b="1" dirty="0" err="1">
                <a:solidFill>
                  <a:srgbClr val="1A1A1A"/>
                </a:solidFill>
                <a:latin typeface="Microsoft YaHei"/>
                <a:ea typeface="Microsoft YaHei"/>
              </a:rPr>
              <a:t>C</a:t>
            </a:r>
            <a:r>
              <a:rPr sz="1200" b="1" dirty="0">
                <a:solidFill>
                  <a:srgbClr val="1A1A1A"/>
                </a:solidFill>
                <a:latin typeface="Microsoft YaHei"/>
                <a:ea typeface="Microsoft YaHei"/>
              </a:rPr>
              <a:t> / D </a:t>
            </a:r>
            <a:r>
              <a:rPr sz="1200" b="1" dirty="0" err="1">
                <a:solidFill>
                  <a:srgbClr val="1A1A1A"/>
                </a:solidFill>
                <a:latin typeface="Microsoft YaHei"/>
                <a:ea typeface="Microsoft YaHei"/>
              </a:rPr>
              <a:t>档借的就是这个能力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，但外面多两样：出图前过闸门；每轮只给「上一版错在哪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改成什么」的增量，不许推倒重画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250"/>
              </a:spcAft>
            </a:pP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⑤ </a:t>
            </a:r>
            <a:r>
              <a:rPr sz="125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论文配图类</a:t>
            </a: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Agent（第</a:t>
            </a: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 10 </a:t>
            </a:r>
            <a:r>
              <a:rPr sz="125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页列过的那几个</a:t>
            </a: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）</a:t>
            </a:r>
          </a:p>
          <a:p>
            <a:pPr lvl="1">
              <a:spcAft>
                <a:spcPts val="250"/>
              </a:spcAft>
            </a:pP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AutoFigure、SciFig、PaperBanana、SciDraw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AI、PicDoc</a:t>
            </a:r>
            <a:endParaRPr sz="1200" b="0" dirty="0">
              <a:solidFill>
                <a:srgbClr val="1A1A1A"/>
              </a:solidFill>
              <a:latin typeface="Microsoft YaHei"/>
              <a:ea typeface="Microsoft YaHei"/>
            </a:endParaRPr>
          </a:p>
          <a:p>
            <a:pPr lvl="1">
              <a:spcAft>
                <a:spcPts val="250"/>
              </a:spcAft>
            </a:pP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第 10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页自己记的机制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=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生成位图过程中多个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Agent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联合；有的会专门训一个「在高渐变自然图上做视觉分割」的模型。结构来自模型规划，</a:t>
            </a:r>
            <a:r>
              <a:rPr sz="1200" b="1" dirty="0" err="1">
                <a:solidFill>
                  <a:srgbClr val="1A1A1A"/>
                </a:solidFill>
                <a:latin typeface="Microsoft YaHei"/>
                <a:ea typeface="Microsoft YaHei"/>
              </a:rPr>
              <a:t>不是来自可量化的物理声明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250"/>
              </a:spcAft>
            </a:pP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⑥ 本 </a:t>
            </a:r>
            <a:r>
              <a:rPr sz="125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skill：输入</a:t>
            </a: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 → IR → </a:t>
            </a:r>
            <a:r>
              <a:rPr sz="125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阶梯</a:t>
            </a: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sz="125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闸门</a:t>
            </a: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sz="125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位图</a:t>
            </a:r>
            <a:endParaRPr sz="1250" b="0" dirty="0">
              <a:solidFill>
                <a:srgbClr val="1A1A1A"/>
              </a:solidFill>
              <a:latin typeface="Microsoft YaHei"/>
              <a:ea typeface="Microsoft YaHei"/>
            </a:endParaRPr>
          </a:p>
          <a:p>
            <a:pPr lvl="1">
              <a:spcAft>
                <a:spcPts val="250"/>
              </a:spcAft>
            </a:pP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参考图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手绘稿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文字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→ ①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IR（物理层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元素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构图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坐标约定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）→ ② A→B→C→D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阶梯（A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一句话；B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加风格图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面板序列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输出硬约束；C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搬 A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的好元素替换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B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的对应处；D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只补上一轮真画错的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）→ ③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每轮把上一版图当构图参考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→ ④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出图前过闸门（含三轴物理：z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=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束流、右手定则、斜二测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正等测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）→ ⑤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出图后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axis_gate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/ 3D /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keep_gate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复检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sz="120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位图</a:t>
            </a:r>
            <a:r>
              <a:rPr sz="1200" b="0" dirty="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250"/>
              </a:spcAft>
            </a:pP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★ </a:t>
            </a:r>
            <a:r>
              <a:rPr sz="125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前五条「物理对不对」要么靠事后人眼、要么靠模型自觉；本</a:t>
            </a: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 skill </a:t>
            </a:r>
            <a:r>
              <a:rPr sz="1250" b="0" dirty="0" err="1">
                <a:solidFill>
                  <a:srgbClr val="1A1A1A"/>
                </a:solidFill>
                <a:latin typeface="Microsoft YaHei"/>
                <a:ea typeface="Microsoft YaHei"/>
              </a:rPr>
              <a:t>把它拆成「</a:t>
            </a:r>
            <a:r>
              <a:rPr sz="1250" b="1" dirty="0" err="1">
                <a:solidFill>
                  <a:srgbClr val="1A1A1A"/>
                </a:solidFill>
                <a:latin typeface="Microsoft YaHei"/>
                <a:ea typeface="Microsoft YaHei"/>
              </a:rPr>
              <a:t>出图前的输入</a:t>
            </a: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」+「</a:t>
            </a:r>
            <a:r>
              <a:rPr sz="1250" b="1" dirty="0" err="1">
                <a:solidFill>
                  <a:srgbClr val="1A1A1A"/>
                </a:solidFill>
                <a:latin typeface="Microsoft YaHei"/>
                <a:ea typeface="Microsoft YaHei"/>
              </a:rPr>
              <a:t>出图后的读数</a:t>
            </a:r>
            <a:r>
              <a:rPr sz="1250" b="0" dirty="0">
                <a:solidFill>
                  <a:srgbClr val="1A1A1A"/>
                </a:solidFill>
                <a:latin typeface="Microsoft YaHei"/>
                <a:ea typeface="Microsoft YaHei"/>
              </a:rPr>
              <a:t>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84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5394"/>
                </a:solidFill>
                <a:latin typeface="Microsoft YaHei"/>
                <a:ea typeface="Microsoft YaHei"/>
              </a:rPr>
              <a:t>IR 的三层否决权：硬物理 / 画法 / 美观</a:t>
            </a:r>
          </a:p>
          <a:p>
            <a:r>
              <a:rPr sz="1250" b="0">
                <a:solidFill>
                  <a:srgbClr val="606060"/>
                </a:solidFill>
                <a:latin typeface="Microsoft YaHei"/>
                <a:ea typeface="Microsoft YaHei"/>
              </a:rPr>
              <a:t>物理可以否决美观；美观不能否决物理；美观可以否决「画法偏好」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13842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第 1 层 · 硬物理（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</a:rPr>
              <a:t>唯一可否决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判据只有一条：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能不能在图上量出来 / 证伪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。写进 IR 的 hard_physics，每条必须给 measure（怎么量）。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给不出 measure 的，说明它是画法，不是物理。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第 2 层 · 画法偏好（降级为建议）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不涉及任何可量化关系（例：「单幅、不要插图框」「火球画成光滑杏仁」）→ 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可被更美观的画法替换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第 3 层 · 美观 / 质感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交给生图模型，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别去规定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三条操作规则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① 「以生图模型的图为准」有前提：只在它不违反第 1 层时成立（模型在「关系」上常打架）。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② 「能更美观就增加」有边界：只加第 2 层视觉元素，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不许顺手删骨架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③ 默认「不变」，改动要举证（第 1 层不更差 + 观感更好）。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反例（实测，不是假设）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A 档到 C 档为了满足 style.conventions 的「单幅、不要插图框」，把作者参考图里 −b/2 / b/2 的碰撞几何插图整块删掉 —— 写 IR 的人把自己的口味升级成了「物理要求」。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机械执行（缺了就是硬伤）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ref_guard.py --ir：缺 hard_physics、或某条没写 measure，都判硬伤。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render_brief_gate.py：位图简报里「必须改对」的每一条都要带 [HPn] 出处，追溯不到的改动不许写。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84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5394"/>
                </a:solidFill>
                <a:latin typeface="Microsoft YaHei"/>
                <a:ea typeface="Microsoft YaHei"/>
              </a:rPr>
              <a:t>位图 → 矢量：固定五步（v4.22，语义分层 + 边界样条）</a:t>
            </a:r>
          </a:p>
          <a:p>
            <a:r>
              <a:rPr sz="1250" b="0">
                <a:solidFill>
                  <a:srgbClr val="606060"/>
                </a:solidFill>
                <a:latin typeface="Microsoft YaHei"/>
                <a:ea typeface="Microsoft YaHei"/>
              </a:rPr>
              <a:t>几何只来自第 ② 步的分割层；语义来自 IR，轮廓只落在可见像素上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13842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① 位图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生图模型出图、客户选定（唯一权威的外观）。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② 语义分割（v4.21 的核心步）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ir_contour_seg.py：先按 IR 认元素，再在可见像素上取轮廓；输出逐像素 elmap + z 序表。语义来自 IR 声明（可审计），不是模型推断。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椭圆核：按整块椭圆的形状认（长宽比 1.5–3.6 / 填充率 ≥0.80 / 凸性 ≥0.85），完全不吃配色 —— UPC 的 N1 配色命中 0.00 仍 100% 归核。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同色深灰：颜色分不开，改按几何 + 锚点（核旁箭头→速度、两核之间→b、顶点两侧→轻子对、顶点上下→光子线、右侧三杆→三轴）。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★ 三轴兜底：杆身是中灰（mn≈120）又压在板上（in_obj），旧判据只认得到板外那支错标箭头；改 mn&lt;150 + 右侧聚类后 T1 1762 → 3418 px。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③ 分层装配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raster_to_vector_semantic.py --elmap-in：按 z 序从后往前画；每元素一个 &lt;g data-element&gt;；文字对齐成真 &lt;text&gt;。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④ 边界样条（v4.22，纯 CPU，默认关）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svg_spline.py / --spline：把单连通大形体的可见像素轮廓交给 vtracer 拟合成一条闭合 Bézier，只改边界，不动明暗。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三道写盘前闸门：IoU ≥ 0.95（样条回渲染 vs 掩膜）｜最大连通块 ≥ 90%｜代价 = 段数 × path 数 ≤ 2e6。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UPC：N1 63 段 IoU 0.9893、N2 41 段 IoU 0.9923；板 S1（1002 段 × 8504 path）自动跳过 —— 它会让 PDF 从 2.32 MB 涨到 563 MB，而 MAE 贡献 0.000。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⑤ 拾取层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pick_layer.py：每个物理结构一条闭合路径 ⇒ 点一下 = 一个物理结构。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交付闸门（缺一不可）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svg_repro_check（MAE / &gt;32 / PSNR）｜ axis_gate（X1–X9 三轴物理）｜ gate3d_rank（3D 感）｜ keep_gate（形体删除对账）。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★ UPC 实测（1664×909）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MAE 1.279 → 1.287（样条）/ &gt;32 1.07% → 1.12% / PSNR 31.20 → 30.96 dB；29730 path / 8 text / 0 image；axis_gate 与 gate3d_rank 均 PASS。台阶贴网格、样条拉圆边界，边界那 1 px 的残差是换曲面无锯齿的代价。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84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5394"/>
                </a:solidFill>
                <a:latin typeface="Microsoft YaHei"/>
                <a:ea typeface="Microsoft YaHei"/>
              </a:rPr>
              <a:t>amodal 补全：七种声明式策略</a:t>
            </a:r>
          </a:p>
          <a:p>
            <a:r>
              <a:rPr sz="1250" b="0">
                <a:solidFill>
                  <a:srgbClr val="606060"/>
                </a:solidFill>
                <a:latin typeface="Microsoft YaHei"/>
                <a:ea typeface="Microsoft YaHei"/>
              </a:rPr>
              <a:t>位图只画了「可见」的部分；「点一下 = 一个物体」要求选中完整物体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13842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none —— 碎笔画（喷注条 / 星芒 / 三轴）：不补，就是可见轮廓</a:t>
            </a:r>
          </a:p>
          <a:p>
            <a:pPr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hull —— 一个凸体积（热芯 / 束流箭头）：最大连通域的凸包（箭头 25658 → 43449 px）</a:t>
            </a:r>
          </a:p>
          <a:p>
            <a:pPr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union_close —— 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QGP 火球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：50% 覆盖颜色门 → open(12) → close(20) → ∪层 → fill_holes → hull ＝ 659736 px（重合 0.998）</a:t>
            </a:r>
          </a:p>
          <a:p>
            <a:pPr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ballfield —— 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Pb 核（球簇）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：带通纹理超水平集（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不做凸包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）→ open(41) → close(31) → 与层重叠最大的连通域，</a:t>
            </a:r>
          </a:p>
          <a:p>
            <a:pPr lvl="1">
              <a:spcAft>
                <a:spcPts val="250"/>
              </a:spcAft>
            </a:pPr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                    再</a:t>
            </a:r>
            <a:r>
              <a:rPr sz="1150" b="1">
                <a:solidFill>
                  <a:srgbClr val="1A1A1A"/>
                </a:solidFill>
                <a:latin typeface="Microsoft YaHei"/>
                <a:ea typeface="Microsoft YaHei"/>
              </a:rPr>
              <a:t>逐核子 watershed</a:t>
            </a:r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⇒ 核 A 19 条（16 单球 + 3 合并块）/ 核 B 18 条</a:t>
            </a:r>
          </a:p>
          <a:p>
            <a:pPr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edgequad —— 板（一个平面）：在位图上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量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 4 条边、求交得 4 个角（补回 992441 px）</a:t>
            </a:r>
          </a:p>
          <a:p>
            <a:pPr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cyan —— 青色逃逸喷注：颜色门 → fill（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不 hull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，保住箭头凹口）</a:t>
            </a:r>
          </a:p>
          <a:p>
            <a:pPr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skip —— 残差类（辉光 + 弧线 + 抗锯齿边）：不是结构，不进拾取层</a:t>
            </a:r>
          </a:p>
          <a:p>
            <a:pPr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★ 为什么必须「带通」：核投在板上的落影 sd 实测 7.8，直接用窗口 sd&gt;5 会把影子一起吞进核（多 23 kpx）。</a:t>
            </a:r>
          </a:p>
          <a:p>
            <a:pPr lvl="1">
              <a:spcAft>
                <a:spcPts val="250"/>
              </a:spcAft>
            </a:pPr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    带通（先减掉大尺度亮度起伏再算局部 sd）后：球堆中位 15.3，落影 2.2 / 1.3，空板 0.7。</a:t>
            </a:r>
          </a:p>
          <a:p>
            <a:pPr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★ 补全策略只能按 IR 角色声明 + 逐条实测，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不许用数值判据自动挑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（实测任何「自动挑」都会把板与核一起误拒）。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84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5394"/>
                </a:solidFill>
                <a:latin typeface="Microsoft YaHei"/>
                <a:ea typeface="Microsoft YaHei"/>
              </a:rPr>
              <a:t>拾取层：点一下 = 一个物理结构</a:t>
            </a:r>
          </a:p>
          <a:p>
            <a:r>
              <a:rPr sz="1250" b="0">
                <a:solidFill>
                  <a:srgbClr val="606060"/>
                </a:solidFill>
                <a:latin typeface="Microsoft YaHei"/>
                <a:ea typeface="Microsoft YaHei"/>
              </a:rPr>
              <a:t>③ 的成品内部是几百到几万条 &lt;path&gt;；一次点击命中的是「那一条 path」，不是物理对象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13842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做法（pick_layer.py）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在 &lt;svg&gt; 最后加 &lt;g id="pick"&gt;，每个结构一条闭合路径，fill-opacity="0" pointer-events="all"。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它什么都不画，但接管点击。★ 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一次点击由最后画的那条路径决定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 ⇒ 顺序必须 = 图里的真实遮挡（back→front）。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子物体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--sub 传 {"element": {"paths": [...]}}（如两个 Pb 核里逐核子一条），子路径画在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父级之后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⇒ 点球选球、点没被切开的区域选核；位图把背排的球画在一起时，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父级就是兜底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，保证没有点不到的地方。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验收（pick_verify.py，三张表）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covered = 这个结构的可见像素里有多少能点到它自己；extra = 补出来的那一份；empty = 点在「图里什么都没有」的地方。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★ unc smooth / text = 没被覆盖的那部分层是「落影/柔边」还是「纹理/格线」——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这一列才决定该不该再补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探针表：位图上是甚么 vs 点一下选中甚么；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probes that do NOT do what is claimed = 0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 才算过。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84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5394"/>
                </a:solidFill>
                <a:latin typeface="Microsoft YaHei"/>
                <a:ea typeface="Microsoft YaHei"/>
              </a:rPr>
              <a:t>判据：每一条都要能测</a:t>
            </a:r>
          </a:p>
          <a:p>
            <a:r>
              <a:rPr sz="1250" b="0">
                <a:solidFill>
                  <a:srgbClr val="606060"/>
                </a:solidFill>
                <a:latin typeface="Microsoft YaHei"/>
                <a:ea typeface="Microsoft YaHei"/>
              </a:rPr>
              <a:t>「我觉得」不算；下面每条都有脚本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13842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光滑（smooth_metric.py）—— 放大会不会看到台阶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只在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位图本身就平滑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的像素上量（相邻步长 ≤3、行列双向都满足，再内缩 7 px），量相邻像素最大通道差：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位图自己（对照）mean 1.21 / p99 3 / &gt;8 占比 0.000 ｜ 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本 skill 光滑档 1.19 / 3 / 0.000（无法区分）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VTracer 0.6.15（默认参数）43.67 / 84 / 0.990（把柔渐变压成了平色块）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拾取层「完全看不见」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成品与带拾取层的成品各渲染一次、比 MD5，必须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逐字节相同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★ 必须用 Edge / Chrome：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cairosvg 不画 &lt;mask&gt;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，光滑档的旁衬层会整块丢，MAE 全错。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参考图角色（ref_role_gate.py）—— 出图前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style-only：只学风格 ⇒ 必须付三样代价（标签白名单 ≥3 / 面板序列 / 不要标题图例边框），缺一即硬伤。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style+content：参考图就是要照它的物理画 ⇒ 必须同时当内容（放进 --content-ref，或简报明写照它的物体与布局画）。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出图后再查「自己加词」：整词 ≥4 字母、又不在白名单里 = 硬伤（实测抓到 overlap / spectators）。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元素清单（element_list.py）—— 出草图前：客户看过 5–10 行清单并点头；回执 element_ack.json 缺了就不许调 API。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形体对账（keep_gate.py）—— 出图后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形体删除：「上一版有 → 这一版没了」逐块报 bbox / 面积 / 颜色族。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质感漂移：东西还在、材质被换掉的读数 —— 同图自比 0.000，真换材质 0.50–0.87。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探针（pick_verify.py）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位图上是甚么 vs 点一下选中甚么；不符 = 0。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三轴物理（axis_gate.py）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轴名多重集 == IR 声明的坐标约定；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同一轴名的两次标注必须在同一根轴杆的两端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3D（check_3d_generic.py / gate3d_rank.py）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板面 ≥3% 画布 / 接触阴影 / 高光偏离几何中心 &gt;0.08 半轴。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另外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交付还要：位图｜临摹｜重建 三联图 + 与风格参考的并排对比图（compare_ref.py）。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84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5394"/>
                </a:solidFill>
                <a:latin typeface="Microsoft YaHei"/>
                <a:ea typeface="Microsoft YaHei"/>
              </a:rPr>
              <a:t>和网上那些「位图转矢量」工具差在哪</a:t>
            </a:r>
          </a:p>
          <a:p>
            <a:r>
              <a:rPr sz="1250" b="0">
                <a:solidFill>
                  <a:srgbClr val="606060"/>
                </a:solidFill>
                <a:latin typeface="Microsoft YaHei"/>
                <a:ea typeface="Microsoft YaHei"/>
              </a:rPr>
              <a:t>差别不在曲线好不好看，而在「语义从哪来」和「有没有补全」（本页只讲位图 → 矢量这一段）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13842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VTracer / potrace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语义 = 无（颜色量化 + 轮廓拟合）｜ 补全 = 无 ｜ 真渐变 = 无 ｜ 点一下选物体 = 做不到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Vectorizer.AI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语义 = 无（"shape" 是几何图元，"layer" 是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按颜色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分层）｜ 补全 = 无 ｜ 按颜色，不按物体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AmodalSVG / LayerSVG / SAMVG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语义 = VLM / SAM 从像素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推断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 ｜ 补全 = 有 ｜ 真渐变 = 有 ｜ 可以点选物体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本 skill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语义 = 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IR 里人工声明的物理角色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 + 逐条实测 ｜ 补全 = 有（七种声明式策略）｜ 真渐变 = 有 ｜ 可以点选物体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★「语义分割」这个动作在前两行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</a:rPr>
              <a:t>根本没有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；在第三、四行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</a:rPr>
              <a:t>都有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，区别在语义的来源：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      它们是模型推断，我们是</a:t>
            </a: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可审计的声明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（每条都能追到 IR 的某个字段 + 一组实测读数）。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★ 换一张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</a:rPr>
              <a:t>没有 IR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 的位图，对象划分会退回「亮度层」——这是本方法的边界，不藏着。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★ 为什么不改成「VLM / SAM 推断语义」：本 skill 的语义必须能追到 IR 字段 + 实测读数（可审计）；模型推断换一张图就变。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      ★ 但吸收其长处：位图没有 IR 时（客户直接给成品图），允许先用 VLM / SAM / 亮度层粗分割，再由人把角色声明进 IR 后重跑。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★ 这一段只讲「位图 → 矢量」；「提示词 → 位图」那一段见「从输入提示词到生成位图」那一页。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★ 同台对手是「逐步剥离图层 + 可微矢量拟合」这条线（核心不是 SAM）：LIVE（CVPR22）/ Layered Image Vectorization via Semantic Simplification（CVPR25）/ LayerPeeler（2025）/ LayerVec / Image Vectorization with Depth（SIAM）/ AmodalSVG。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     机制：递归加可优化贝塞尔路径并联合优化（LIVE）｜多相分割 + 深度序 + 曲率补全（IVYSO）｜VLM 找 topmost 元素 + 微调扩散模型抠图（LayerPeeler，要 GPU + Gemini key）。分割只是其中一环。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★ 真跑对账（UPC 位图降到 512×279，同尺寸）：本 skill MAE 4.935 / &gt;32 3.70%，10 个元素各 1 层（与 IR 参考逐像素完全相同）；LIVE 16 条 path MAE 24.520 / &gt;32 29.84%，且 path 0 一条就覆盖 40.18% 画布、反应平面要 16 条全上才到 90%、两个核 0 条。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     ⇒ 它们的「层」是优化单元（一条路径 / 一个相位），不是物理对象。要「完美分割物理结构」，缺的不是更强的分割器，而是语义从哪来。 它们给的是好边界，不是好归属。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⇒ 拼成物理结构 = 层边界 + IR 锚点归属 + 并集：归属那一步本 skill 已做成 elmap（UPC 全尺寸 MAE 1.279 / &gt;32 1.07%）；缺的只是他们的边界精度。LIVE 在本机 CPU 跑通过（512×279，MAE 24.520），全尺寸与 LayerPeeler 仍要 GPU + 权重。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11384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5394"/>
                </a:solidFill>
                <a:latin typeface="Microsoft YaHei"/>
                <a:ea typeface="Microsoft YaHei"/>
              </a:rPr>
              <a:t>踩过的坑：这些方法是错的，别再犯</a:t>
            </a:r>
          </a:p>
          <a:p>
            <a:r>
              <a:rPr sz="1250" b="0">
                <a:solidFill>
                  <a:srgbClr val="606060"/>
                </a:solidFill>
                <a:latin typeface="Microsoft YaHei"/>
                <a:ea typeface="Microsoft YaHei"/>
              </a:rPr>
              <a:t>留痕的目的不是记账，是下次不要重新踩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13842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颜色阈值 ∩ 包围盒 重抠几何 → 底边被切平；非单连通掩膜描出「卷曲细带」（MAE 2.49 / 5.28 vs 1.95）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任何形式的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</a:rPr>
              <a:t>凸包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用于球堆 → 一定跨过整堆，把箭头头和一片空板圈进来（点一个球 = 选中好多球）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21 px 窗口 sd 找球簇 → 被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</a:rPr>
              <a:t>落影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骗过（落影 sd 7.8）；必须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</a:rPr>
              <a:t>带通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椭圆「目测」补全核 → 盖住整个核、漏 37% 层 ⇒ 点球选中核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hull(layer) 补全火球 → 内凹缺口，3 个方向比可见橙边小 4–30 px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火球补全不做 close → 橙色门被喷注条切成 2 块 + 掐点，交付路径只剩 328419 / 521801 px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用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</a:rPr>
              <a:t>整幅 MAE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 当选型判据 → MAE 更低但把三轴吃成了渐变（6.418 → 5.984 的反例）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用 cairosvg 渲染带 mask 的成品 → 旁衬层整块丢，「成品 vs 位图」的 MAE 全错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用数值判据自动挑补全方式 → 本图上任何「自动挑」都会把板与核一起误拒（只能声明 + 逐条实测）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B/C 看不到「修改前的图」 → 上一版画对的一起重画：A 档的 QGP 是有核子的粗糙火球，没给图就被重画成光滑圆球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「画面元素」与「标签白名单」是闭集合 → 没点名的形体被静默删掉（实测：A 档两侧的入射核子簇整块消失）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只写文字「严格在上一张图上改」不成立 → 必须把上一张图交进去（这就是 L9 的来历）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C 档改几何顺手换材质 → 只让把圆球压成扁球，模型把光滑球面一起重画成粗糙石块（keep_gate 漂移 0.881）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把「画法偏好」写进 style.conventions 当硬要求 → 为满足「单幅、不要插图框」，把作者图的碰撞几何插图整块删掉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用负面提示词纠错 → 写「不是花生」，那三张真画成花生；改成正面描述（长轴 ≈1.8× 短轴）后 4/4 一次过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「反抄写」判据（v4.12 已删除）→ 照抄的强度 = 简报的欠定程度，跟写没写「不要照抄」无关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--W 写死 1200 / 与 panels 表画布不一致 → 静默降采样或内容缩到左上 72%（实测 MAE 3.02 → 1.95、7.217 → 2.323）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拿 SAM 当语义主判据 → 同一张图上两个物理同类的核 88% / 1%，换一组阈值 1% → 90%（不可复现）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★ 一句话总结：</a:t>
            </a: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</a:rPr>
              <a:t>几何只从临摹层取；补全只按声明做；判据只看逐元素读数。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84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5394"/>
                </a:solidFill>
                <a:latin typeface="Microsoft YaHei"/>
                <a:ea typeface="Microsoft YaHei"/>
              </a:rPr>
              <a:t>能不能拿别人分好的图层，拼成物理结构？</a:t>
            </a:r>
          </a:p>
          <a:p>
            <a:r>
              <a:rPr sz="1250" b="0">
                <a:solidFill>
                  <a:srgbClr val="606060"/>
                </a:solidFill>
                <a:latin typeface="Microsoft YaHei"/>
                <a:ea typeface="Microsoft YaHei"/>
              </a:rPr>
              <a:t>可以，但「拼」不是免费的：层按外观 / 深度 / 相位切，物理结构按角色定义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13842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可以 —— 三步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① 取层边界（他们的强项：无锯齿、可微矢量）；② 每一层归属到一个 IR 元素；③ 同一元素的层并成一个 &lt;g data-element&gt;。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为什么不能自动拼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层 ≠ 物体：同一材质的两个物体常在一层（UPC 的板 + 蓝核 + 红核同属一个 #593244 色类）；一个物体的明暗/纹理又常被切成多层（椭球核 = 高光 + 暗面 + 边缘）。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层里没有「我是谁」的标签；归属必须靠外部先验 —— IR 里的核中心、相互作用顶点、b 轴、三轴方向。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本机现状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归属这一步已经有了（elmap + geometry_refine），缺的是它们的边界精度（LIVE 全尺寸 / LayerPeeler / SAM 要 GPU + 权重）。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所以现在是「我们的归属 + 我们的边界」；混合路线 = 「我们的归属 + 他们的边界」，是下一步最值得做的。</a:t>
            </a:r>
          </a:p>
          <a:p>
            <a:pPr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判据（不靠感觉）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并完必须过：每元素 px/bbox 对 IR、axis_gate、回渲染 MAE；归属错一次会让整层错，所以每个锚点都要能测（核中心距、顶点距、b 轴同线）。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84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2400" b="1">
                <a:solidFill>
                  <a:srgbClr val="0B5394"/>
                </a:solidFill>
                <a:latin typeface="Microsoft YaHei"/>
                <a:ea typeface="Microsoft YaHei"/>
              </a:rPr>
              <a:t>边界样条：三个真 bug（v4.22）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13842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1. vtracer 的坐标原点不是 bbox 左上角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它把图形居中到原点，真实位置写在 &lt;path transform="translate(tx,ty)"&gt;。只取 d、丢掉 transform → 每个元素被裁到左上角：MAE 11.609 / &gt;32 6.46% / PSNR 17.16，核整块消失、板出大白洞。</a:t>
            </a:r>
          </a:p>
          <a:p>
            <a:pPr lvl="0"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2. 补色带被自己的 clipPath 裁掉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样条相对像素台阶会鼓出/缩进半像素，所以要有一条补色带；但如果补色带和被裁内容在同一层外，它天然在掩膜外、会被裁没，白边仍在。现在补色带同层但排在最底，靠 clip 收口。</a:t>
            </a:r>
          </a:p>
          <a:p>
            <a:pPr lvl="0"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3. clip 会被写进每一条 path —— 板不能做样条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cairosvg 把 clip 路径摊进每条被裁的 path。S1：1002 段 × 8504 path → PDF 563 MB、渲染 &gt;12 min（去掉 clip 只要 2.88 MB / 15 s）；而它对 MAE 的贡献是 0.000（1.287 vs 1.287）。→ --max-cost 2e6 自动跳过。</a:t>
            </a:r>
          </a:p>
          <a:p>
            <a:pPr lvl="0"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实测（UPC 1664×909）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样条只上两个核：N1 63 段 IoU 0.9893、N2 41 段 IoU 0.9923（各 1 条 path）。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MAE 1.279 → 1.287，&gt;32 1.07% → 1.12%，PSNR 31.20 → 30.96 dB；axis_gate / gate3d_rank 仍 PASS。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这不是退步：台阶版逐像素贴网格，样条把边界拉圆，那 1 px 上必然有残差；换来的是曲面上没有锯齿（8× 对比图 _boundary_cmp_v2.png）。</a:t>
            </a:r>
          </a:p>
          <a:p>
            <a:pPr lvl="0">
              <a:spcAft>
                <a:spcPts val="250"/>
              </a:spcAft>
            </a:pP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一句话</a:t>
            </a:r>
          </a:p>
          <a:p>
            <a:pPr lvl="1">
              <a:spcAft>
                <a:spcPts val="25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样条只做「单连通 + 大形体 + 代价可接受」的元素；箭头、弹簧、三轴、文字一律不碰 —— 它们的边界是画出来的线，光滑化只会把线变胖。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26855</TotalTime>
  <Words>3840</Words>
  <Application>Microsoft Office PowerPoint</Application>
  <PresentationFormat>宽屏</PresentationFormat>
  <Paragraphs>289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quote-cjk-patch</vt:lpstr>
      <vt:lpstr>Microsoft YaHei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HUAWEI</dc:creator>
  <cp:lastModifiedBy>Yuhao Peng</cp:lastModifiedBy>
  <cp:revision>52</cp:revision>
  <dcterms:created xsi:type="dcterms:W3CDTF">2023-08-09T12:44:00Z</dcterms:created>
  <dcterms:modified xsi:type="dcterms:W3CDTF">2026-10-15T12:18:50Z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